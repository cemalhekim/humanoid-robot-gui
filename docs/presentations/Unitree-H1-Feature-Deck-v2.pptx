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dff19ce6b749c8" /><Relationship Type="http://schemas.openxmlformats.org/officeDocument/2006/relationships/extended-properties" Target="/docProps/app.xml" Id="R7a2f4187825d4161" /><Relationship Type="http://schemas.openxmlformats.org/officeDocument/2006/relationships/officeDocument" Target="/ppt/presentation.xml" Id="Rcbe1a967116f48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9e84b2cb254e5e"/>
  </p:sldMasterIdLst>
  <p:notesMasterIdLst>
    <p:notesMasterId xmlns:r="http://schemas.openxmlformats.org/officeDocument/2006/relationships" r:id="R26a5685048df4a6d"/>
  </p:notesMasterIdLst>
  <p:sldIdLst>
    <p:sldId xmlns:r="http://schemas.openxmlformats.org/officeDocument/2006/relationships" id="256" r:id="Raddc1bd6ec02400e"/>
    <p:sldId xmlns:r="http://schemas.openxmlformats.org/officeDocument/2006/relationships" id="257" r:id="R8282c36231ef4fc9"/>
    <p:sldId xmlns:r="http://schemas.openxmlformats.org/officeDocument/2006/relationships" id="258" r:id="R10d775a78be944fb"/>
    <p:sldId xmlns:r="http://schemas.openxmlformats.org/officeDocument/2006/relationships" id="259" r:id="R47df6d1ff9ec4b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f433fa993f4b72" /><Relationship Type="http://schemas.openxmlformats.org/officeDocument/2006/relationships/slideMaster" Target="/ppt/slideMasters/slideMaster1.xml" Id="R229e84b2cb254e5e" /><Relationship Type="http://schemas.openxmlformats.org/officeDocument/2006/relationships/notesMaster" Target="/ppt/notesMasters/notesMaster1.xml" Id="R26a5685048df4a6d" /><Relationship Type="http://schemas.openxmlformats.org/officeDocument/2006/relationships/presProps" Target="/ppt/presProps.xml" Id="Rd8a1f699aaf34d76" /><Relationship Type="http://schemas.openxmlformats.org/officeDocument/2006/relationships/tableStyles" Target="/ppt/tableStyles.xml" Id="Rdb2f03fbe3ec4560" /><Relationship Type="http://schemas.openxmlformats.org/officeDocument/2006/relationships/slide" Target="/ppt/slides/slide1.xml" Id="Raddc1bd6ec02400e" /><Relationship Type="http://schemas.openxmlformats.org/officeDocument/2006/relationships/slide" Target="/ppt/slides/slide2.xml" Id="R8282c36231ef4fc9" /><Relationship Type="http://schemas.openxmlformats.org/officeDocument/2006/relationships/slide" Target="/ppt/slides/slide3.xml" Id="R10d775a78be944fb" /><Relationship Type="http://schemas.openxmlformats.org/officeDocument/2006/relationships/slide" Target="/ppt/slides/slide4.xml" Id="R47df6d1ff9ec4b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13615ec08d41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2b7144cdd04f7b" /><Relationship Type="http://schemas.openxmlformats.org/officeDocument/2006/relationships/notesMaster" Target="/ppt/notesMasters/notesMaster1.xml" Id="Rb8e866550cbe43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7ab882ae8449e3" /><Relationship Type="http://schemas.openxmlformats.org/officeDocument/2006/relationships/notesMaster" Target="/ppt/notesMasters/notesMaster1.xml" Id="Rcb0a624e20974f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43fc44cb924732" /><Relationship Type="http://schemas.openxmlformats.org/officeDocument/2006/relationships/notesMaster" Target="/ppt/notesMasters/notesMaster1.xml" Id="Rc6d38e9454984d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527292ce334ce9" /><Relationship Type="http://schemas.openxmlformats.org/officeDocument/2006/relationships/notesMaster" Target="/ppt/notesMasters/notesMaster1.xml" Id="R3a6a77c95bf641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e1ced333554a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eddbb0521a4869" /><Relationship Type="http://schemas.openxmlformats.org/officeDocument/2006/relationships/slideLayout" Target="/ppt/slideLayouts/slideLayout1.xml" Id="R6a1ebf77b5f84c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1ebf77b5f84c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9a207f9ce4e24" /><Relationship Type="http://schemas.openxmlformats.org/officeDocument/2006/relationships/image" Target="/ppt/media/image.jpeg" Id="Rb51aa68f45174205" /><Relationship Type="http://schemas.openxmlformats.org/officeDocument/2006/relationships/image" Target="/ppt/media/image.png" Id="Ree4e6ccc18144bfb" /><Relationship Type="http://schemas.openxmlformats.org/officeDocument/2006/relationships/notesSlide" Target="/ppt/notesSlides/notesSlide1.xml" Id="Re839718591df49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95db61f0e4fdb" /><Relationship Type="http://schemas.openxmlformats.org/officeDocument/2006/relationships/image" Target="/ppt/media/image2.jpeg" Id="R88832f2d4d414ff9" /><Relationship Type="http://schemas.openxmlformats.org/officeDocument/2006/relationships/notesSlide" Target="/ppt/notesSlides/notesSlide2.xml" Id="Rc87013b23a384b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5e7e8a15a410c" /><Relationship Type="http://schemas.openxmlformats.org/officeDocument/2006/relationships/image" Target="/ppt/media/image.jpeg" Id="R7eab3f182b5c4af4" /><Relationship Type="http://schemas.openxmlformats.org/officeDocument/2006/relationships/notesSlide" Target="/ppt/notesSlides/notesSlide3.xml" Id="R727f992c33ec42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38d784ae243b7" /><Relationship Type="http://schemas.openxmlformats.org/officeDocument/2006/relationships/notesSlide" Target="/ppt/notesSlides/notesSlide4.xml" Id="Ra1adda20fb014e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0">
            <a:solidFill>
              <a:srgbClr val="0B0B0D"/>
            </a:solidFill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4D5E"/>
                </a:solidFill>
              </a:defRPr>
            </a:pPr>
            <a:r>
              <a:rPr sz="1050" b="1">
                <a:solidFill>
                  <a:srgbClr val="FF4D5E"/>
                </a:solidFill>
              </a:rPr>
              <a:t>VISION PRO TELEOPERATION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Vision Pro steuert</a:t>
            </a:r>
          </a:p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Roboterhände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Handskelette und Wrist Pose werden latenzarm in Zielposen für Roboterhand und -arm übersetzt.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Räumliche Handpose-Erfassung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Das 3D-Skelett beider Hände, Pinch, Finger-Curl und Wrist Pose werden in Szenenkoordinaten gelesen.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121F"/>
          </a:solidFill>
          <a:ln xmlns:a="http://schemas.openxmlformats.org/drawingml/2006/main" w="0">
            <a:solidFill>
              <a:srgbClr val="C1121F"/>
            </a:solidFill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Retargeting mit niedriger Latenz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Der Pose-Stream wird gefiltert, skaliert und innerhalb der Gelenkgrenzen auf Inspire-Handziele abgebildet.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0000"/>
          </a:solidFill>
          <a:ln xmlns:a="http://schemas.openxmlformats.org/drawingml/2006/main" w="0">
            <a:solidFill>
              <a:srgbClr val="780000"/>
            </a:solidFill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Roboterhände im Regelkreis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Kamera- und XR-Feedback laufen im selben Loop; der Operator sieht die Roboterhände wie die eigenen Hände.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aa68f45174205"/>
          <a:srcRect xmlns:a="http://schemas.openxmlformats.org/drawingml/2006/main" l="2206" t="0" r="22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1720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7C2C2"/>
                </a:solidFill>
              </a:defRPr>
            </a:pPr>
            <a:r>
              <a:rPr sz="1350">
                <a:solidFill>
                  <a:srgbClr val="C7C2C2"/>
                </a:solidFill>
              </a:rPr>
              <a:t>Live-Roboteransicht: Beide Roboterhände werden über Vision-Pro-Handtracking auf die Gesten des Operators gemappt.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C7C2C2"/>
                </a:solidFill>
              </a:defRPr>
            </a:pPr>
            <a:r>
              <a:rPr sz="1275" b="1">
                <a:solidFill>
                  <a:srgbClr val="C7C2C2"/>
                </a:solidFill>
              </a:rPr>
              <a:t>Natürliche Handbewegung wird zu sicherer Roboterbewegung.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e6ccc18144bfb"/>
          <a:srcRect xmlns:a="http://schemas.openxmlformats.org/drawingml/2006/main" l="2118" t="0" r="21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91175" y="828675"/>
            <a:ext cx="6172200" cy="3867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0">
            <a:solidFill>
              <a:srgbClr val="0B0B0D"/>
            </a:solidFill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4D5E"/>
                </a:solidFill>
              </a:defRPr>
            </a:pPr>
            <a:r>
              <a:rPr sz="1050" b="1">
                <a:solidFill>
                  <a:srgbClr val="FF4D5E"/>
                </a:solidFill>
              </a:rPr>
              <a:t>ROBOTER-TELEMETRIE-WORKFLOW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validiert Bewegung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Die Ansicht bündelt Sequenzaufbau aus Motor-Samples, Simulationsprüfung und sichere Speicherung echter Roboterbewegung in einem Workflow.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Sequenzierte Bewegungspunkte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Jeder Punkt speichert 27 Motoren, Zeitstempel und Replay-Reihenfolge; der ausgewählte Punkt ist sofort sichtbar.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IK- und Grenzwertprüfung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IK-Fehler werden auf Zentimeter-Ebene gezeigt; aktive Bounds schützen sichere Gelenklimits.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Simulation und Replay im Vergleich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Referenz, Simulation und Zielbewegung werden in derselben Szene übereinander lesbar.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Übergabe an den realen Roboter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Add Point, Simulate Trajectory, Move Arms und Save Real Robot Motion bleiben in einem Operator-Flow.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32f2d4d414ff9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1720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Live-Operatoransicht: links die Sequenzliste, in der Mitte 3D-Roboter-Replay, oben Sicherheits- und Speicheraktionen.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C7C2C2"/>
                </a:solidFill>
              </a:rPr>
              <a:t>Ziel: Aufnahme, Sichtbarkeit und Simulation sind vor der Bewegung validiert.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0">
            <a:solidFill>
              <a:srgbClr val="0B0B0D"/>
            </a:solidFill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4D5E"/>
                </a:solidFill>
              </a:defRPr>
            </a:pPr>
            <a:r>
              <a:rPr sz="1050" b="1">
                <a:solidFill>
                  <a:srgbClr val="FF4D5E"/>
                </a:solidFill>
              </a:rPr>
              <a:t>XR-GEHSTEUERUNG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Drei XR-Modi</a:t>
            </a:r>
          </a:p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für den Robotergang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Der Operator wechselt zwischen manueller Eingabe, Blickrichtung und Positions-Synchronisation.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Ein virtuelles Pad steuert Geschwindigkeit und Richtung; ideal für Demo, enge Räume und präzise Fahrt.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121F"/>
          </a:solidFill>
          <a:ln xmlns:a="http://schemas.openxmlformats.org/drawingml/2006/main" w="0">
            <a:solidFill>
              <a:srgbClr val="C1121F"/>
            </a:solidFill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Die Blickrichtung wird in Gehabsicht übersetzt; der Operator lenkt den Roboter mit dem Kopf.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0000"/>
          </a:solidFill>
          <a:ln xmlns:a="http://schemas.openxmlformats.org/drawingml/2006/main" w="0">
            <a:solidFill>
              <a:srgbClr val="780000"/>
            </a:solidFill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7C2C2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Position und Orientierung des Operators werden auf Roboterbewegung gemappt und stärken Telepresence.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b3f182b5c4af4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1720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7C2C2"/>
                </a:solidFill>
              </a:defRPr>
            </a:pPr>
            <a:r>
              <a:rPr sz="1350">
                <a:solidFill>
                  <a:srgbClr val="C7C2C2"/>
                </a:solidFill>
              </a:rPr>
              <a:t>Die Vision-Pro-Oberfläche liegt über der Roboterszene; drei Kontrollmodi werden in einer Auswahl verglichen.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C7C2C2"/>
                </a:solidFill>
              </a:defRPr>
            </a:pPr>
            <a:r>
              <a:rPr sz="1275" b="1">
                <a:solidFill>
                  <a:srgbClr val="C7C2C2"/>
                </a:solidFill>
              </a:rPr>
              <a:t>Moduswahl nach Aufgabe, Umgebung und Operator-Erfahrung.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mmary-eyebrow">
            <a:extLst xmlns:a="http://schemas.openxmlformats.org/drawingml/2006/main">
              <a:ext uri="{FF2B5EF4-FFF2-40B4-BE49-F238E27FC236}">
                <a16:creationId xmlns:a16="http://schemas.microsoft.com/office/drawing/2014/main" id="{886992DE-3408-416A-B8FF-1AC8074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4D5E"/>
                </a:solidFill>
              </a:defRPr>
            </a:pPr>
            <a:r>
              <a:rPr sz="1050" b="1">
                <a:solidFill>
                  <a:srgbClr val="FF4D5E"/>
                </a:solidFill>
              </a:rPr>
              <a:t>FUNKTIONSUMFANG</a:t>
            </a:r>
          </a:p>
        </p:txBody>
      </p:sp>
      <p:sp>
        <p:nvSpPr>
          <p:cNvPr id="2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A8CB66A5-8391-4BDA-A9AF-7C397E0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F8FAFC"/>
                </a:solidFill>
              </a:defRPr>
            </a:pPr>
            <a:r>
              <a:rPr sz="2550" b="1">
                <a:solidFill>
                  <a:srgbClr val="F8FAFC"/>
                </a:solidFill>
              </a:rPr>
              <a:t>Funktionen ausser Camera Stream, Teleoperation und Recording-Flows</a:t>
            </a:r>
          </a:p>
        </p:txBody>
      </p:sp>
      <p:sp>
        <p:nvSpPr>
          <p:cNvPr id="3" name="summary-subtitle">
            <a:extLst xmlns:a="http://schemas.openxmlformats.org/drawingml/2006/main">
              <a:ext uri="{FF2B5EF4-FFF2-40B4-BE49-F238E27FC236}">
                <a16:creationId xmlns:a16="http://schemas.microsoft.com/office/drawing/2014/main" id="{085C0BBD-E7D4-4EE5-876C-E31DEEB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F8FAFC"/>
                </a:solidFill>
              </a:defRPr>
            </a:pPr>
            <a:r>
              <a:rPr sz="1425">
                <a:solidFill>
                  <a:srgbClr val="F8FAFC"/>
                </a:solidFill>
              </a:rPr>
              <a:t>Produktschichten, die das Robotererlebnis ohne Kamera-Stream, Teleoperation und Recording-Sequenzen erklären.</a:t>
            </a:r>
          </a:p>
        </p:txBody>
      </p:sp>
      <p:sp>
        <p:nvSpPr>
          <p:cNvPr id="4" name="summary-accent-1">
            <a:extLst xmlns:a="http://schemas.openxmlformats.org/drawingml/2006/main">
              <a:ext uri="{FF2B5EF4-FFF2-40B4-BE49-F238E27FC236}">
                <a16:creationId xmlns:a16="http://schemas.microsoft.com/office/drawing/2014/main" id="{153ABE25-DE31-492F-9B5C-1F16266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5" name="summary-column-title-1">
            <a:extLst xmlns:a="http://schemas.openxmlformats.org/drawingml/2006/main">
              <a:ext uri="{FF2B5EF4-FFF2-40B4-BE49-F238E27FC236}">
                <a16:creationId xmlns:a16="http://schemas.microsoft.com/office/drawing/2014/main" id="{23C6B5C8-67D6-4712-AEE4-2B746EF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Cockpit und KI</a:t>
            </a:r>
          </a:p>
        </p:txBody>
      </p:sp>
      <p:sp>
        <p:nvSpPr>
          <p:cNvPr id="6" name="summary-dot-1-0">
            <a:extLst xmlns:a="http://schemas.openxmlformats.org/drawingml/2006/main">
              <a:ext uri="{FF2B5EF4-FFF2-40B4-BE49-F238E27FC236}">
                <a16:creationId xmlns:a16="http://schemas.microsoft.com/office/drawing/2014/main" id="{E782920F-02C3-4BE3-A23F-A49B482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7" name="summary-item-1-0">
            <a:extLst xmlns:a="http://schemas.openxmlformats.org/drawingml/2006/main">
              <a:ext uri="{FF2B5EF4-FFF2-40B4-BE49-F238E27FC236}">
                <a16:creationId xmlns:a16="http://schemas.microsoft.com/office/drawing/2014/main" id="{82752ACF-2A1E-408B-94EB-E53764A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Natürliche Befehle und Antworten über den KI-Chatbot</a:t>
            </a:r>
          </a:p>
        </p:txBody>
      </p:sp>
      <p:sp>
        <p:nvSpPr>
          <p:cNvPr id="8" name="summary-dot-1-1">
            <a:extLst xmlns:a="http://schemas.openxmlformats.org/drawingml/2006/main">
              <a:ext uri="{FF2B5EF4-FFF2-40B4-BE49-F238E27FC236}">
                <a16:creationId xmlns:a16="http://schemas.microsoft.com/office/drawing/2014/main" id="{C9E43975-E384-4751-86AB-7B1BEA92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9" name="summary-item-1-1">
            <a:extLst xmlns:a="http://schemas.openxmlformats.org/drawingml/2006/main">
              <a:ext uri="{FF2B5EF4-FFF2-40B4-BE49-F238E27FC236}">
                <a16:creationId xmlns:a16="http://schemas.microsoft.com/office/drawing/2014/main" id="{71A3217D-8F84-4FA9-9A63-F6D21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Robot-Kontext über Informationsfluss und RAG bündeln</a:t>
            </a:r>
          </a:p>
        </p:txBody>
      </p:sp>
      <p:sp>
        <p:nvSpPr>
          <p:cNvPr id="10" name="summary-dot-1-2">
            <a:extLst xmlns:a="http://schemas.openxmlformats.org/drawingml/2006/main">
              <a:ext uri="{FF2B5EF4-FFF2-40B4-BE49-F238E27FC236}">
                <a16:creationId xmlns:a16="http://schemas.microsoft.com/office/drawing/2014/main" id="{BF43D49A-E3E9-4F68-94F4-2B39314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1" name="summary-item-1-2">
            <a:extLst xmlns:a="http://schemas.openxmlformats.org/drawingml/2006/main">
              <a:ext uri="{FF2B5EF4-FFF2-40B4-BE49-F238E27FC236}">
                <a16:creationId xmlns:a16="http://schemas.microsoft.com/office/drawing/2014/main" id="{71EB9F1E-E26F-430E-8ED0-0C507D0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Digitale Szene und Zustandsgefühl über den Robot Twin</a:t>
            </a:r>
          </a:p>
        </p:txBody>
      </p:sp>
      <p:sp>
        <p:nvSpPr>
          <p:cNvPr id="12" name="summary-dot-1-3">
            <a:extLst xmlns:a="http://schemas.openxmlformats.org/drawingml/2006/main">
              <a:ext uri="{FF2B5EF4-FFF2-40B4-BE49-F238E27FC236}">
                <a16:creationId xmlns:a16="http://schemas.microsoft.com/office/drawing/2014/main" id="{D0110764-0F71-46B5-9DF9-3EDEA65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3" name="summary-item-1-3">
            <a:extLst xmlns:a="http://schemas.openxmlformats.org/drawingml/2006/main">
              <a:ext uri="{FF2B5EF4-FFF2-40B4-BE49-F238E27FC236}">
                <a16:creationId xmlns:a16="http://schemas.microsoft.com/office/drawing/2014/main" id="{BAA415C0-742B-4962-8DE9-97C16EB5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Operator-Entscheidungen in einem Cockpit bündeln</a:t>
            </a:r>
          </a:p>
        </p:txBody>
      </p:sp>
      <p:sp>
        <p:nvSpPr>
          <p:cNvPr id="14" name="summary-accent-2">
            <a:extLst xmlns:a="http://schemas.openxmlformats.org/drawingml/2006/main">
              <a:ext uri="{FF2B5EF4-FFF2-40B4-BE49-F238E27FC236}">
                <a16:creationId xmlns:a16="http://schemas.microsoft.com/office/drawing/2014/main" id="{3BB516E3-7CCC-43C9-A41C-8D0154D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5" name="summary-column-title-2">
            <a:extLst xmlns:a="http://schemas.openxmlformats.org/drawingml/2006/main">
              <a:ext uri="{FF2B5EF4-FFF2-40B4-BE49-F238E27FC236}">
                <a16:creationId xmlns:a16="http://schemas.microsoft.com/office/drawing/2014/main" id="{09F93FB2-4CD9-4A11-AA0F-4875ACA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Robot Twin</a:t>
            </a:r>
          </a:p>
        </p:txBody>
      </p:sp>
      <p:sp>
        <p:nvSpPr>
          <p:cNvPr id="16" name="summary-dot-2-0">
            <a:extLst xmlns:a="http://schemas.openxmlformats.org/drawingml/2006/main">
              <a:ext uri="{FF2B5EF4-FFF2-40B4-BE49-F238E27FC236}">
                <a16:creationId xmlns:a16="http://schemas.microsoft.com/office/drawing/2014/main" id="{275B9D02-32DD-4752-AD2E-3608401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7" name="summary-item-2-0">
            <a:extLst xmlns:a="http://schemas.openxmlformats.org/drawingml/2006/main">
              <a:ext uri="{FF2B5EF4-FFF2-40B4-BE49-F238E27FC236}">
                <a16:creationId xmlns:a16="http://schemas.microsoft.com/office/drawing/2014/main" id="{06400A28-3AF6-4DB5-BE61-07951529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Die Szene über die digitale Roboteransicht lesen</a:t>
            </a:r>
          </a:p>
        </p:txBody>
      </p:sp>
      <p:sp>
        <p:nvSpPr>
          <p:cNvPr id="18" name="summary-dot-2-1">
            <a:extLst xmlns:a="http://schemas.openxmlformats.org/drawingml/2006/main">
              <a:ext uri="{FF2B5EF4-FFF2-40B4-BE49-F238E27FC236}">
                <a16:creationId xmlns:a16="http://schemas.microsoft.com/office/drawing/2014/main" id="{BD3D500E-9961-45BB-BA34-8FF112F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9" name="summary-item-2-1">
            <a:extLst xmlns:a="http://schemas.openxmlformats.org/drawingml/2006/main">
              <a:ext uri="{FF2B5EF4-FFF2-40B4-BE49-F238E27FC236}">
                <a16:creationId xmlns:a16="http://schemas.microsoft.com/office/drawing/2014/main" id="{039C0838-D042-4CA0-AF8A-220B0B4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Roboterzustand visuell verfolgen</a:t>
            </a:r>
          </a:p>
        </p:txBody>
      </p:sp>
      <p:sp>
        <p:nvSpPr>
          <p:cNvPr id="20" name="summary-dot-2-2">
            <a:extLst xmlns:a="http://schemas.openxmlformats.org/drawingml/2006/main">
              <a:ext uri="{FF2B5EF4-FFF2-40B4-BE49-F238E27FC236}">
                <a16:creationId xmlns:a16="http://schemas.microsoft.com/office/drawing/2014/main" id="{8A5E66CF-4E3F-4C37-9286-98BE9CD2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21" name="summary-item-2-2">
            <a:extLst xmlns:a="http://schemas.openxmlformats.org/drawingml/2006/main">
              <a:ext uri="{FF2B5EF4-FFF2-40B4-BE49-F238E27FC236}">
                <a16:creationId xmlns:a16="http://schemas.microsoft.com/office/drawing/2014/main" id="{A2392BB0-778B-48CF-82CC-AA99B9E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Situationsbewusstsein auf einen Blick geben</a:t>
            </a:r>
          </a:p>
        </p:txBody>
      </p:sp>
      <p:sp>
        <p:nvSpPr>
          <p:cNvPr id="22" name="summary-dot-2-3">
            <a:extLst xmlns:a="http://schemas.openxmlformats.org/drawingml/2006/main">
              <a:ext uri="{FF2B5EF4-FFF2-40B4-BE49-F238E27FC236}">
                <a16:creationId xmlns:a16="http://schemas.microsoft.com/office/drawing/2014/main" id="{3BAC5C97-2047-4C1E-A9A9-8559649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23" name="summary-item-2-3">
            <a:extLst xmlns:a="http://schemas.openxmlformats.org/drawingml/2006/main">
              <a:ext uri="{FF2B5EF4-FFF2-40B4-BE49-F238E27FC236}">
                <a16:creationId xmlns:a16="http://schemas.microsoft.com/office/drawing/2014/main" id="{08E9C1E0-9197-484B-B25A-43905A9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Realen Roboter und digitalen Kontext zusammenführen</a:t>
            </a:r>
          </a:p>
        </p:txBody>
      </p:sp>
      <p:sp>
        <p:nvSpPr>
          <p:cNvPr id="24" name="summary-accent-3">
            <a:extLst xmlns:a="http://schemas.openxmlformats.org/drawingml/2006/main">
              <a:ext uri="{FF2B5EF4-FFF2-40B4-BE49-F238E27FC236}">
                <a16:creationId xmlns:a16="http://schemas.microsoft.com/office/drawing/2014/main" id="{DB4E2D7A-CD0B-4BE6-9D46-C5C24FE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25" name="summary-column-title-3">
            <a:extLst xmlns:a="http://schemas.openxmlformats.org/drawingml/2006/main">
              <a:ext uri="{FF2B5EF4-FFF2-40B4-BE49-F238E27FC236}">
                <a16:creationId xmlns:a16="http://schemas.microsoft.com/office/drawing/2014/main" id="{9542CB7D-BD85-4453-9A8F-BDF5C68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Live Dashboard</a:t>
            </a:r>
          </a:p>
        </p:txBody>
      </p:sp>
      <p:sp>
        <p:nvSpPr>
          <p:cNvPr id="26" name="summary-dot-3-0">
            <a:extLst xmlns:a="http://schemas.openxmlformats.org/drawingml/2006/main">
              <a:ext uri="{FF2B5EF4-FFF2-40B4-BE49-F238E27FC236}">
                <a16:creationId xmlns:a16="http://schemas.microsoft.com/office/drawing/2014/main" id="{57462B64-BB98-4779-B659-4B499F2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27" name="summary-item-3-0">
            <a:extLst xmlns:a="http://schemas.openxmlformats.org/drawingml/2006/main">
              <a:ext uri="{FF2B5EF4-FFF2-40B4-BE49-F238E27FC236}">
                <a16:creationId xmlns:a16="http://schemas.microsoft.com/office/drawing/2014/main" id="{085F348E-0A53-4897-8173-B558CBC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Live-Roboterzustand lesbar machen</a:t>
            </a:r>
          </a:p>
        </p:txBody>
      </p:sp>
      <p:sp>
        <p:nvSpPr>
          <p:cNvPr id="28" name="summary-dot-3-1">
            <a:extLst xmlns:a="http://schemas.openxmlformats.org/drawingml/2006/main">
              <a:ext uri="{FF2B5EF4-FFF2-40B4-BE49-F238E27FC236}">
                <a16:creationId xmlns:a16="http://schemas.microsoft.com/office/drawing/2014/main" id="{798A8D34-1722-480C-941A-F7BF126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29" name="summary-item-3-1">
            <a:extLst xmlns:a="http://schemas.openxmlformats.org/drawingml/2006/main">
              <a:ext uri="{FF2B5EF4-FFF2-40B4-BE49-F238E27FC236}">
                <a16:creationId xmlns:a16="http://schemas.microsoft.com/office/drawing/2014/main" id="{A30FF992-1702-4567-9D98-7D9D21E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Systemgesundheit und Verbindung verfolgen</a:t>
            </a:r>
          </a:p>
        </p:txBody>
      </p:sp>
      <p:sp>
        <p:nvSpPr>
          <p:cNvPr id="30" name="summary-dot-3-2">
            <a:extLst xmlns:a="http://schemas.openxmlformats.org/drawingml/2006/main">
              <a:ext uri="{FF2B5EF4-FFF2-40B4-BE49-F238E27FC236}">
                <a16:creationId xmlns:a16="http://schemas.microsoft.com/office/drawing/2014/main" id="{CC2DDA57-9192-4ED7-BF8A-78A9F47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31" name="summary-item-3-2">
            <a:extLst xmlns:a="http://schemas.openxmlformats.org/drawingml/2006/main">
              <a:ext uri="{FF2B5EF4-FFF2-40B4-BE49-F238E27FC236}">
                <a16:creationId xmlns:a16="http://schemas.microsoft.com/office/drawing/2014/main" id="{44C264DE-0344-4E9E-B0B5-3BA72D05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Schnelles Kontrollgefühl im Operator-Screen geben</a:t>
            </a:r>
          </a:p>
        </p:txBody>
      </p:sp>
      <p:sp>
        <p:nvSpPr>
          <p:cNvPr id="32" name="summary-dot-3-3">
            <a:extLst xmlns:a="http://schemas.openxmlformats.org/drawingml/2006/main">
              <a:ext uri="{FF2B5EF4-FFF2-40B4-BE49-F238E27FC236}">
                <a16:creationId xmlns:a16="http://schemas.microsoft.com/office/drawing/2014/main" id="{77F26244-1A37-4C2C-8191-EF0A43F3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33" name="summary-item-3-3">
            <a:extLst xmlns:a="http://schemas.openxmlformats.org/drawingml/2006/main">
              <a:ext uri="{FF2B5EF4-FFF2-40B4-BE49-F238E27FC236}">
                <a16:creationId xmlns:a16="http://schemas.microsoft.com/office/drawing/2014/main" id="{4A34C9D7-E7A7-4B69-9B46-432A309D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Logs, Status und Fehler in einer Erfahrung verbinden</a:t>
            </a:r>
          </a:p>
        </p:txBody>
      </p:sp>
      <p:sp>
        <p:nvSpPr>
          <p:cNvPr id="34" name="summary-accent-4">
            <a:extLst xmlns:a="http://schemas.openxmlformats.org/drawingml/2006/main">
              <a:ext uri="{FF2B5EF4-FFF2-40B4-BE49-F238E27FC236}">
                <a16:creationId xmlns:a16="http://schemas.microsoft.com/office/drawing/2014/main" id="{2B3B6C7C-D2B3-4E47-8004-DF727B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35" name="summary-column-title-4">
            <a:extLst xmlns:a="http://schemas.openxmlformats.org/drawingml/2006/main">
              <a:ext uri="{FF2B5EF4-FFF2-40B4-BE49-F238E27FC236}">
                <a16:creationId xmlns:a16="http://schemas.microsoft.com/office/drawing/2014/main" id="{DF069BEB-1216-48D1-A984-4C1A824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Integration und Demo-Vorbereitung</a:t>
            </a:r>
          </a:p>
        </p:txBody>
      </p:sp>
      <p:sp>
        <p:nvSpPr>
          <p:cNvPr id="36" name="summary-dot-4-0">
            <a:extLst xmlns:a="http://schemas.openxmlformats.org/drawingml/2006/main">
              <a:ext uri="{FF2B5EF4-FFF2-40B4-BE49-F238E27FC236}">
                <a16:creationId xmlns:a16="http://schemas.microsoft.com/office/drawing/2014/main" id="{46BF30B7-66F6-45ED-B6EF-6A64DD8D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37" name="summary-item-4-0">
            <a:extLst xmlns:a="http://schemas.openxmlformats.org/drawingml/2006/main">
              <a:ext uri="{FF2B5EF4-FFF2-40B4-BE49-F238E27FC236}">
                <a16:creationId xmlns:a16="http://schemas.microsoft.com/office/drawing/2014/main" id="{CCC25C07-1392-47D4-A6DC-1C519829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Infrastruktur über ROS Visibility sichtbar machen</a:t>
            </a:r>
          </a:p>
        </p:txBody>
      </p:sp>
      <p:sp>
        <p:nvSpPr>
          <p:cNvPr id="38" name="summary-dot-4-1">
            <a:extLst xmlns:a="http://schemas.openxmlformats.org/drawingml/2006/main">
              <a:ext uri="{FF2B5EF4-FFF2-40B4-BE49-F238E27FC236}">
                <a16:creationId xmlns:a16="http://schemas.microsoft.com/office/drawing/2014/main" id="{59DCD151-D03D-49E5-BAF1-54119E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39" name="summary-item-4-1">
            <a:extLst xmlns:a="http://schemas.openxmlformats.org/drawingml/2006/main">
              <a:ext uri="{FF2B5EF4-FFF2-40B4-BE49-F238E27FC236}">
                <a16:creationId xmlns:a16="http://schemas.microsoft.com/office/drawing/2014/main" id="{1C934687-CCD9-413D-BBFA-1CC91430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Modulare Steuerungsschichten</a:t>
            </a:r>
          </a:p>
        </p:txBody>
      </p:sp>
      <p:sp>
        <p:nvSpPr>
          <p:cNvPr id="40" name="summary-dot-4-2">
            <a:extLst xmlns:a="http://schemas.openxmlformats.org/drawingml/2006/main">
              <a:ext uri="{FF2B5EF4-FFF2-40B4-BE49-F238E27FC236}">
                <a16:creationId xmlns:a16="http://schemas.microsoft.com/office/drawing/2014/main" id="{876A55B3-C675-4707-B33C-7575D67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41" name="summary-item-4-2">
            <a:extLst xmlns:a="http://schemas.openxmlformats.org/drawingml/2006/main">
              <a:ext uri="{FF2B5EF4-FFF2-40B4-BE49-F238E27FC236}">
                <a16:creationId xmlns:a16="http://schemas.microsoft.com/office/drawing/2014/main" id="{7BD7F432-15B1-49E2-9039-A400CC6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Ein-Screen-Erlebnis für Pilot und Demo</a:t>
            </a:r>
          </a:p>
        </p:txBody>
      </p:sp>
      <p:sp>
        <p:nvSpPr>
          <p:cNvPr id="42" name="summary-dot-4-3">
            <a:extLst xmlns:a="http://schemas.openxmlformats.org/drawingml/2006/main">
              <a:ext uri="{FF2B5EF4-FFF2-40B4-BE49-F238E27FC236}">
                <a16:creationId xmlns:a16="http://schemas.microsoft.com/office/drawing/2014/main" id="{5E75EF89-CD79-4D07-9D0D-AA682D5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43" name="summary-item-4-3">
            <a:extLst xmlns:a="http://schemas.openxmlformats.org/drawingml/2006/main">
              <a:ext uri="{FF2B5EF4-FFF2-40B4-BE49-F238E27FC236}">
                <a16:creationId xmlns:a16="http://schemas.microsoft.com/office/drawing/2014/main" id="{28B2257B-7CF8-47A6-898F-B0327ABB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7C2C2"/>
                </a:solidFill>
              </a:defRPr>
            </a:pPr>
            <a:r>
              <a:rPr sz="1275">
                <a:solidFill>
                  <a:srgbClr val="C7C2C2"/>
                </a:solidFill>
              </a:rPr>
              <a:t>Produktgefühl durch eine Premium-Control-Layer</a:t>
            </a:r>
          </a:p>
        </p:txBody>
      </p:sp>
      <p:sp>
        <p:nvSpPr>
          <p:cNvPr id="44" name="summary-footer-line">
            <a:extLst xmlns:a="http://schemas.openxmlformats.org/drawingml/2006/main">
              <a:ext uri="{FF2B5EF4-FFF2-40B4-BE49-F238E27FC236}">
                <a16:creationId xmlns:a16="http://schemas.microsoft.com/office/drawing/2014/main" id="{A61945C7-053D-4731-AC9B-9DC5B7A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24600"/>
            <a:ext cx="1108710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5" name="summary-footer">
            <a:extLst xmlns:a="http://schemas.openxmlformats.org/drawingml/2006/main">
              <a:ext uri="{FF2B5EF4-FFF2-40B4-BE49-F238E27FC236}">
                <a16:creationId xmlns:a16="http://schemas.microsoft.com/office/drawing/2014/main" id="{A1392C9E-70A5-4E90-B45F-5740DA0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7C2C2"/>
                </a:solidFill>
              </a:defRPr>
            </a:pPr>
            <a:r>
              <a:rPr sz="1200">
                <a:solidFill>
                  <a:srgbClr val="C7C2C2"/>
                </a:solidFill>
              </a:rPr>
              <a:t>Ausser Umfang: Camera Stream, Teleoperation / Remote Presence, Recording-Sequenzen, IK/Simulation und XR-Gehmodi.</a:t>
            </a:r>
          </a:p>
        </p:txBody>
      </p:sp>
      <p:sp>
        <p:nvSpPr>
          <p:cNvPr id="4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45F86A79-AB78-4FD5-A9DC-88863D3B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0">
            <a:solidFill>
              <a:srgbClr val="0B0B0D"/>
            </a:solidFill>
            <a:prstDash val="solid"/>
          </a:ln>
        </p:spPr>
      </p:sp>
      <p:sp>
        <p:nvSpPr>
          <p:cNvPr id="4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90FCF8CF-CEF4-40FF-BB96-A93F03DF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4D5E"/>
                </a:solidFill>
              </a:defRPr>
            </a:pPr>
            <a:r>
              <a:rPr sz="1125" b="1">
                <a:solidFill>
                  <a:srgbClr val="FF4D5E"/>
                </a:solidFill>
              </a:rPr>
              <a:t>FUNKTIONSUMFANG</a:t>
            </a:r>
          </a:p>
        </p:txBody>
      </p:sp>
      <p:sp>
        <p:nvSpPr>
          <p:cNvPr id="4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718F1B2F-52CA-479A-A2F1-F80BDCB3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Weitere Produktfunktionen</a:t>
            </a:r>
          </a:p>
        </p:txBody>
      </p:sp>
      <p:sp>
        <p:nvSpPr>
          <p:cNvPr id="4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426C8D26-C2FA-4200-9A10-DC70116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Ohne Camera Stream, Teleoperation und Recording-Flows.</a:t>
            </a:r>
          </a:p>
        </p:txBody>
      </p:sp>
      <p:sp>
        <p:nvSpPr>
          <p:cNvPr id="5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85326EB4-3520-4398-90D6-053CC204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5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D5538E78-F572-4D3B-BC02-A4D929A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5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05E9F8B8-1BDC-4008-B024-5710CA2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Cockpit und KI</a:t>
            </a:r>
          </a:p>
        </p:txBody>
      </p:sp>
      <p:sp>
        <p:nvSpPr>
          <p:cNvPr id="5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CD822141-F1A4-46E7-840F-C0CB44AA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5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FB2135DA-962B-4EF6-9A92-C96A6026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KI-Chatbot</a:t>
            </a:r>
          </a:p>
        </p:txBody>
      </p:sp>
      <p:sp>
        <p:nvSpPr>
          <p:cNvPr id="5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4D62CF7-42FD-40E0-9818-0181E245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5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9ABF595C-4CF9-4ED2-BF52-554AFB51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Informationsfluss / RAG</a:t>
            </a:r>
          </a:p>
        </p:txBody>
      </p:sp>
      <p:sp>
        <p:nvSpPr>
          <p:cNvPr id="5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6FACE029-B6E2-4F1A-94AA-97501F7F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5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2FF4E693-89A7-4FC6-8701-23E43841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Ein Cockpit-Erlebnis</a:t>
            </a:r>
          </a:p>
        </p:txBody>
      </p:sp>
      <p:sp>
        <p:nvSpPr>
          <p:cNvPr id="5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3913600C-4679-4BD8-939A-02EE8BEE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6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E0D91B6-A502-4AC1-9D9E-B84A700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6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55F6837D-2064-412D-B071-DF64870F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Robot Twin</a:t>
            </a:r>
          </a:p>
        </p:txBody>
      </p:sp>
      <p:sp>
        <p:nvSpPr>
          <p:cNvPr id="6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91C75C38-F8BD-4045-9B36-BA836BEC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6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08D6FE2B-6EEE-4297-B074-7A2646BE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Digitale Roboteransicht</a:t>
            </a:r>
          </a:p>
        </p:txBody>
      </p:sp>
      <p:sp>
        <p:nvSpPr>
          <p:cNvPr id="6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0016F89-894C-4BFC-8776-F31E7F68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6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07F6F198-693B-4B4C-A5E3-50E67E32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Situationsbewusstsein</a:t>
            </a:r>
          </a:p>
        </p:txBody>
      </p:sp>
      <p:sp>
        <p:nvSpPr>
          <p:cNvPr id="6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4661C53A-89B0-414B-8E40-A0BBB599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6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BC1B2816-A240-4543-8883-273132E0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Roboterkontext bündeln</a:t>
            </a:r>
          </a:p>
        </p:txBody>
      </p:sp>
      <p:sp>
        <p:nvSpPr>
          <p:cNvPr id="6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5BA7B1CD-337D-4234-998F-25014C2A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6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4E3992C2-C1D8-4340-9318-EF3AF94B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7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029F0BA4-E249-4E4D-93E1-573D109C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Live Dashboard</a:t>
            </a:r>
          </a:p>
        </p:txBody>
      </p:sp>
      <p:sp>
        <p:nvSpPr>
          <p:cNvPr id="7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B7AAF0FF-39F1-4AA7-A0A3-2BFB3182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7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7276D2F7-458F-4734-9D17-2E600EF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Live-Roboterzustand</a:t>
            </a:r>
          </a:p>
        </p:txBody>
      </p:sp>
      <p:sp>
        <p:nvSpPr>
          <p:cNvPr id="7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628A70B5-D994-47FE-BC87-2229446C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7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9D4C8F58-C4B5-4041-ABE1-0177166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Systemgesundheit</a:t>
            </a:r>
          </a:p>
        </p:txBody>
      </p:sp>
      <p:sp>
        <p:nvSpPr>
          <p:cNvPr id="7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00AEC786-2AD8-436A-B801-B1AC93FE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7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0FA5379D-120A-4F6C-B0F0-E2AA7D3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Log- und Fehlersichtbarkeit</a:t>
            </a:r>
          </a:p>
        </p:txBody>
      </p:sp>
      <p:sp>
        <p:nvSpPr>
          <p:cNvPr id="7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9E243C49-4A95-48C8-B31F-5A994625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7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326D67E0-9447-44C5-9BF7-F4AB52F2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7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697E2787-EF34-4FDC-979A-8743A064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Integration und Demo</a:t>
            </a:r>
          </a:p>
        </p:txBody>
      </p:sp>
      <p:sp>
        <p:nvSpPr>
          <p:cNvPr id="8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9A9DAE35-FC9F-4A66-A1A9-E134ECE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8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D0F50B50-D820-430C-8061-A81A9E93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8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03AFDA01-5111-4175-94DD-F9370156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8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9F905AA8-EC8B-45ED-948C-56A9E53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Modulare Steuerungsschichten</a:t>
            </a:r>
          </a:p>
        </p:txBody>
      </p:sp>
      <p:sp>
        <p:nvSpPr>
          <p:cNvPr id="8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7E5B3F53-38E4-4A3E-8DF5-CDFB0A20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8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73EA5967-96F2-4F20-AA41-1DBFAFE1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Demo-reifes Produktgefühl</a:t>
            </a:r>
          </a:p>
        </p:txBody>
      </p:sp>
      <p:sp>
        <p:nvSpPr>
          <p:cNvPr id="8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9D076F0F-9466-4C01-A788-BF81B470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0">
            <a:solidFill>
              <a:srgbClr val="0B0B0D"/>
            </a:solidFill>
            <a:prstDash val="solid"/>
          </a:ln>
        </p:spPr>
      </p:sp>
      <p:sp>
        <p:nvSpPr>
          <p:cNvPr id="8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587186D5-6727-44ED-B2D1-B623633A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4D5E"/>
                </a:solidFill>
              </a:defRPr>
            </a:pPr>
            <a:r>
              <a:rPr sz="1125" b="1">
                <a:solidFill>
                  <a:srgbClr val="FF4D5E"/>
                </a:solidFill>
              </a:rPr>
              <a:t>FUNKTIONSUMFANG</a:t>
            </a:r>
          </a:p>
        </p:txBody>
      </p:sp>
      <p:sp>
        <p:nvSpPr>
          <p:cNvPr id="8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8BBC60FD-7BC2-46CC-B317-FE09FFD2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Weitere Produktfunktionen</a:t>
            </a:r>
          </a:p>
        </p:txBody>
      </p:sp>
      <p:sp>
        <p:nvSpPr>
          <p:cNvPr id="8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E159289E-2146-4AD8-A16C-DF222548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Ohne Camera Stream, Teleoperation und Recording-Flows.</a:t>
            </a:r>
          </a:p>
        </p:txBody>
      </p:sp>
      <p:sp>
        <p:nvSpPr>
          <p:cNvPr id="9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65C4E347-E9A9-4E01-9F14-F274BBE2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9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69C17588-4776-40E7-A54A-51744EF7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9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B4C1161F-CAA3-49D4-8D7F-7354CF85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Cockpit und KI</a:t>
            </a:r>
          </a:p>
        </p:txBody>
      </p:sp>
      <p:sp>
        <p:nvSpPr>
          <p:cNvPr id="9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1A815D3A-E7AF-41C6-9C74-37A5BD40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9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2FF85769-1605-4525-9439-05D58882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KI-Chatbot</a:t>
            </a:r>
          </a:p>
        </p:txBody>
      </p:sp>
      <p:sp>
        <p:nvSpPr>
          <p:cNvPr id="9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BF0B9F3-BA19-4859-950D-343F6883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9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F4B62EA2-35D8-45A0-80E4-29EB42E3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Informationsfluss / RAG</a:t>
            </a:r>
          </a:p>
        </p:txBody>
      </p:sp>
      <p:sp>
        <p:nvSpPr>
          <p:cNvPr id="9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366F0646-0247-40AF-9052-2B2D1587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9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3ACF285E-A434-43B7-AB64-323E7029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Ein Cockpit-Erlebnis</a:t>
            </a:r>
          </a:p>
        </p:txBody>
      </p:sp>
      <p:sp>
        <p:nvSpPr>
          <p:cNvPr id="9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A72982D6-01D5-4348-BD52-D147986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10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604548B-D030-470B-9C9D-FCA9C962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0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ADA075A7-F073-4CA5-A3E4-B923F02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Robot Twin</a:t>
            </a:r>
          </a:p>
        </p:txBody>
      </p:sp>
      <p:sp>
        <p:nvSpPr>
          <p:cNvPr id="10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479326B9-4ACB-4FE5-AB3F-9FA902BD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0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B0CDCB50-8121-4F30-B3B4-0D2F69AA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Digitale Roboteransicht</a:t>
            </a:r>
          </a:p>
        </p:txBody>
      </p:sp>
      <p:sp>
        <p:nvSpPr>
          <p:cNvPr id="10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5F37ACF-3DE3-4DEC-8F5E-1A954CB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0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F6957BEF-F626-46BA-8B17-12AA1092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Situationsbewusstsein</a:t>
            </a:r>
          </a:p>
        </p:txBody>
      </p:sp>
      <p:sp>
        <p:nvSpPr>
          <p:cNvPr id="10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22BBAE40-858A-477B-9755-741284E5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0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9B580936-C72F-4C02-B48C-5752DABC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Roboterkontext bündeln</a:t>
            </a:r>
          </a:p>
        </p:txBody>
      </p:sp>
      <p:sp>
        <p:nvSpPr>
          <p:cNvPr id="10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F1457C8C-7A78-427B-A6FF-104B8DF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10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DD41653D-C97F-4019-A03E-CA4C86B7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1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6D91BE63-9127-42F7-94D1-B9D794DA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Live Dashboard</a:t>
            </a:r>
          </a:p>
        </p:txBody>
      </p:sp>
      <p:sp>
        <p:nvSpPr>
          <p:cNvPr id="11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41E7FDE1-D5B6-4A92-B8CF-14375788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1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674DE82D-8199-47F3-9219-F633101E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Live-Roboterzustand</a:t>
            </a:r>
          </a:p>
        </p:txBody>
      </p:sp>
      <p:sp>
        <p:nvSpPr>
          <p:cNvPr id="11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23A360EB-516A-4CEC-B13F-467CA6F4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1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ED1210F5-2B2C-47D7-8A9B-1379911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Systemgesundheit</a:t>
            </a:r>
          </a:p>
        </p:txBody>
      </p:sp>
      <p:sp>
        <p:nvSpPr>
          <p:cNvPr id="11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E575D08E-4289-47C6-8A80-E6DE98BE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1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243EB5D9-DAB5-4643-BB09-22D1E347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Log- und Fehlersichtbarkeit</a:t>
            </a:r>
          </a:p>
        </p:txBody>
      </p:sp>
      <p:sp>
        <p:nvSpPr>
          <p:cNvPr id="11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01D787B7-DEF1-4E3F-80DE-2D2E6408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1012"/>
          </a:solidFill>
          <a:ln xmlns:a="http://schemas.openxmlformats.org/drawingml/2006/main" w="9525">
            <a:solidFill>
              <a:srgbClr val="5B1720"/>
            </a:solidFill>
            <a:prstDash val="solid"/>
          </a:ln>
        </p:spPr>
      </p:sp>
      <p:sp>
        <p:nvSpPr>
          <p:cNvPr id="11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09C73115-0D63-4D76-8E2E-567F5044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233C"/>
          </a:solidFill>
          <a:ln xmlns:a="http://schemas.openxmlformats.org/drawingml/2006/main" w="0">
            <a:solidFill>
              <a:srgbClr val="EF233C"/>
            </a:solidFill>
            <a:prstDash val="solid"/>
          </a:ln>
        </p:spPr>
      </p:sp>
      <p:sp>
        <p:nvSpPr>
          <p:cNvPr id="11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350929BB-3D7F-49E4-AC34-B16EA1B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Integration und Demo</a:t>
            </a:r>
          </a:p>
        </p:txBody>
      </p:sp>
      <p:sp>
        <p:nvSpPr>
          <p:cNvPr id="12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FEDD0B10-C167-46EA-89A1-7B933C90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2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9AB95D9E-3A2F-48A4-81F9-1CA4468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12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6026E1BB-4D03-4FB7-94C0-48017EA3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2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FD7BF46F-14FB-4B60-8574-6FE0B64D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Modulare Steuerungsschichten</a:t>
            </a:r>
          </a:p>
        </p:txBody>
      </p:sp>
      <p:sp>
        <p:nvSpPr>
          <p:cNvPr id="12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35DCAEBE-A549-47CC-AB1B-88B94CB5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2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E40C75FF-89FC-48FE-9B24-1E53EA3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C7C2C2"/>
                </a:solidFill>
              </a:defRPr>
            </a:pPr>
            <a:r>
              <a:rPr sz="1500">
                <a:solidFill>
                  <a:srgbClr val="C7C2C2"/>
                </a:solidFill>
              </a:rPr>
              <a:t>Demo-reifes Produktgefühl</a:t>
            </a:r>
          </a:p>
        </p:txBody>
      </p:sp>
    </p:spTree>
    <p:extLst>
      <p:ext uri="{BB962C8B-B14F-4D97-AF65-F5344CB8AC3E}">
        <p14:creationId xmlns:p14="http://schemas.microsoft.com/office/powerpoint/2010/main" val="1369150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2026-07-07T12:14:21.0390000Z</dcterms:created>
  <dcterms:modified xsi:type="dcterms:W3CDTF">2026-07-07T12:14:21.0390000Z</dcterms:modified>
</coreProperties>
</file>