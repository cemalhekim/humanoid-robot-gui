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52e2ad43514230" /><Relationship Type="http://schemas.openxmlformats.org/officeDocument/2006/relationships/extended-properties" Target="/docProps/app.xml" Id="R6ef8f942320f4e97" /><Relationship Type="http://schemas.openxmlformats.org/officeDocument/2006/relationships/officeDocument" Target="/ppt/presentation.xml" Id="R6a05ead46b2f4c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a708c8af804834"/>
  </p:sldMasterIdLst>
  <p:notesMasterIdLst>
    <p:notesMasterId xmlns:r="http://schemas.openxmlformats.org/officeDocument/2006/relationships" r:id="R483f10ac9baf40ac"/>
  </p:notesMasterIdLst>
  <p:sldIdLst>
    <p:sldId xmlns:r="http://schemas.openxmlformats.org/officeDocument/2006/relationships" id="256" r:id="R928ba754636a4340"/>
    <p:sldId xmlns:r="http://schemas.openxmlformats.org/officeDocument/2006/relationships" id="257" r:id="R9026cdac201a432e"/>
    <p:sldId xmlns:r="http://schemas.openxmlformats.org/officeDocument/2006/relationships" id="258" r:id="R369ffc431f9f4686"/>
    <p:sldId xmlns:r="http://schemas.openxmlformats.org/officeDocument/2006/relationships" id="259" r:id="R06519c45a0d24cdf"/>
    <p:sldId xmlns:r="http://schemas.openxmlformats.org/officeDocument/2006/relationships" id="260" r:id="R3f389624006c4893"/>
    <p:sldId xmlns:r="http://schemas.openxmlformats.org/officeDocument/2006/relationships" id="261" r:id="R7807236170ec4aa3"/>
    <p:sldId xmlns:r="http://schemas.openxmlformats.org/officeDocument/2006/relationships" id="262" r:id="R1aa9750fa83f43a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653bc546234e02" /><Relationship Type="http://schemas.openxmlformats.org/officeDocument/2006/relationships/slideMaster" Target="/ppt/slideMasters/slideMaster1.xml" Id="Rf5a708c8af804834" /><Relationship Type="http://schemas.openxmlformats.org/officeDocument/2006/relationships/notesMaster" Target="/ppt/notesMasters/notesMaster1.xml" Id="R483f10ac9baf40ac" /><Relationship Type="http://schemas.openxmlformats.org/officeDocument/2006/relationships/presProps" Target="/ppt/presProps.xml" Id="R83aa0822daa74eca" /><Relationship Type="http://schemas.openxmlformats.org/officeDocument/2006/relationships/tableStyles" Target="/ppt/tableStyles.xml" Id="R473a7638672140b9" /><Relationship Type="http://schemas.openxmlformats.org/officeDocument/2006/relationships/slide" Target="/ppt/slides/slide1.xml" Id="R928ba754636a4340" /><Relationship Type="http://schemas.openxmlformats.org/officeDocument/2006/relationships/slide" Target="/ppt/slides/slide2.xml" Id="R9026cdac201a432e" /><Relationship Type="http://schemas.openxmlformats.org/officeDocument/2006/relationships/slide" Target="/ppt/slides/slide3.xml" Id="R369ffc431f9f4686" /><Relationship Type="http://schemas.openxmlformats.org/officeDocument/2006/relationships/slide" Target="/ppt/slides/slide4.xml" Id="R06519c45a0d24cdf" /><Relationship Type="http://schemas.openxmlformats.org/officeDocument/2006/relationships/slide" Target="/ppt/slides/slide5.xml" Id="R3f389624006c4893" /><Relationship Type="http://schemas.openxmlformats.org/officeDocument/2006/relationships/slide" Target="/ppt/slides/slide6.xml" Id="R7807236170ec4aa3" /><Relationship Type="http://schemas.openxmlformats.org/officeDocument/2006/relationships/slide" Target="/ppt/slides/slide7.xml" Id="R1aa9750fa83f43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fba6af67c446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c495ba1e4a45c8" /><Relationship Type="http://schemas.openxmlformats.org/officeDocument/2006/relationships/notesMaster" Target="/ppt/notesMasters/notesMaster1.xml" Id="R1796fb719da145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fa6388876d4569" /><Relationship Type="http://schemas.openxmlformats.org/officeDocument/2006/relationships/notesMaster" Target="/ppt/notesMasters/notesMaster1.xml" Id="R0e78bd14de414f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c05f3153e54477" /><Relationship Type="http://schemas.openxmlformats.org/officeDocument/2006/relationships/notesMaster" Target="/ppt/notesMasters/notesMaster1.xml" Id="Ra4286a78740046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bb26fac9ae45a9" /><Relationship Type="http://schemas.openxmlformats.org/officeDocument/2006/relationships/notesMaster" Target="/ppt/notesMasters/notesMaster1.xml" Id="R710a311601544d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cbbf82c3b14efc" /><Relationship Type="http://schemas.openxmlformats.org/officeDocument/2006/relationships/notesMaster" Target="/ppt/notesMasters/notesMaster1.xml" Id="Rc442993621ad45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27d547393f4a48" /><Relationship Type="http://schemas.openxmlformats.org/officeDocument/2006/relationships/notesMaster" Target="/ppt/notesMasters/notesMaster1.xml" Id="R8002e363063644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8007fa4f0a4281" /><Relationship Type="http://schemas.openxmlformats.org/officeDocument/2006/relationships/notesMaster" Target="/ppt/notesMasters/notesMaster1.xml" Id="Re68b941c98014d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a1e3eb55cb40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79c7980d1f4cfc" /><Relationship Type="http://schemas.openxmlformats.org/officeDocument/2006/relationships/slideLayout" Target="/ppt/slideLayouts/slideLayout1.xml" Id="R2263436caf824c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63436caf824c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0943048964ac4" /><Relationship Type="http://schemas.openxmlformats.org/officeDocument/2006/relationships/image" Target="/ppt/media/image.png" Id="Rda6126f5332b4f33" /><Relationship Type="http://schemas.openxmlformats.org/officeDocument/2006/relationships/notesSlide" Target="/ppt/notesSlides/notesSlide1.xml" Id="Rba34f8c3ebbf42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9508d93d4409c" /><Relationship Type="http://schemas.openxmlformats.org/officeDocument/2006/relationships/image" Target="/ppt/media/image2.png" Id="Rd379307b234445dd" /><Relationship Type="http://schemas.openxmlformats.org/officeDocument/2006/relationships/image" Target="/ppt/media/image3.png" Id="Rb18991a7f6c048e5" /><Relationship Type="http://schemas.openxmlformats.org/officeDocument/2006/relationships/image" Target="/ppt/media/image4.png" Id="Rc08720ab3be146bc" /><Relationship Type="http://schemas.openxmlformats.org/officeDocument/2006/relationships/notesSlide" Target="/ppt/notesSlides/notesSlide2.xml" Id="Ra61f805165f749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4d49d46a74121" /><Relationship Type="http://schemas.openxmlformats.org/officeDocument/2006/relationships/image" Target="/ppt/media/image5.png" Id="Rac50aaae81734013" /><Relationship Type="http://schemas.openxmlformats.org/officeDocument/2006/relationships/notesSlide" Target="/ppt/notesSlides/notesSlide3.xml" Id="R98038eae10f644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8b1a0490a4913" /><Relationship Type="http://schemas.openxmlformats.org/officeDocument/2006/relationships/image" Target="/ppt/media/image6.png" Id="R90709b062ca5488e" /><Relationship Type="http://schemas.openxmlformats.org/officeDocument/2006/relationships/image" Target="/ppt/media/image7.png" Id="R554111e387914a7c" /><Relationship Type="http://schemas.openxmlformats.org/officeDocument/2006/relationships/image" Target="/ppt/media/image8.png" Id="R68604bdef6d74394" /><Relationship Type="http://schemas.openxmlformats.org/officeDocument/2006/relationships/notesSlide" Target="/ppt/notesSlides/notesSlide4.xml" Id="R41d108a16c8a4e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10c12901b43c7" /><Relationship Type="http://schemas.openxmlformats.org/officeDocument/2006/relationships/image" Target="/ppt/media/image.jpeg" Id="Re539b7c951f3428b" /><Relationship Type="http://schemas.openxmlformats.org/officeDocument/2006/relationships/notesSlide" Target="/ppt/notesSlides/notesSlide5.xml" Id="Rc232d368ba6b48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e005f39b24e73" /><Relationship Type="http://schemas.openxmlformats.org/officeDocument/2006/relationships/image" Target="/ppt/media/image2.jpeg" Id="R9cec525d4b6745dd" /><Relationship Type="http://schemas.openxmlformats.org/officeDocument/2006/relationships/notesSlide" Target="/ppt/notesSlides/notesSlide6.xml" Id="R214f743c11094b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0f8ddbcb34950" /><Relationship Type="http://schemas.openxmlformats.org/officeDocument/2006/relationships/notesSlide" Target="/ppt/notesSlides/notesSlide7.xml" Id="Rc3b38adaaa834a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6126f5332b4f33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9307b234445dd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991a7f6c048e5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8720ab3be146bc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50aaae81734013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09b062ca5488e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111e387914a7c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04bdef6d74394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9b7c951f3428b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XR WALKING CONTROL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yürütmenin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üç yolu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Operatör; hassas manuel komut, baş yönüyle sezgisel sürüş veya pozisyon eşleme arasında geçiş yapabiliyor.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Sanal joystick/pad ile hız ve yön verilir. Demo, dar alan ve hassas manuel sürüş için uygun.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Başın baktığı yön robotun yürüyüş niyetine çevrilir. Operatör robotu bakışla yönlendirir.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Operatörün pozisyonu ve yönelimi robot hareketine eşlenir. Telepresence hissini güçlendirir.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ec525d4b6745dd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Görüntüde Vision Pro arayüzü robot sahnesinin üzerine bindirilmiş: üç kontrol modu aynı seçim ekranında karşılaştırılıyor.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Yürütme katmanı tek bir kontrol biçimine kilitlenmez; görev, ortam ve operatör deneyimine göre mod seçilir.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mmary-eyebrow">
            <a:extLst xmlns:a="http://schemas.openxmlformats.org/drawingml/2006/main">
              <a:ext uri="{FF2B5EF4-FFF2-40B4-BE49-F238E27FC236}">
                <a16:creationId xmlns:a16="http://schemas.microsoft.com/office/drawing/2014/main" id="{886992DE-3408-416A-B8FF-1AC8074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FEATURE SCOPE</a:t>
            </a:r>
          </a:p>
        </p:txBody>
      </p:sp>
      <p:sp>
        <p:nvSpPr>
          <p:cNvPr id="2" name="summary-title">
            <a:extLst xmlns:a="http://schemas.openxmlformats.org/drawingml/2006/main">
              <a:ext uri="{FF2B5EF4-FFF2-40B4-BE49-F238E27FC236}">
                <a16:creationId xmlns:a16="http://schemas.microsoft.com/office/drawing/2014/main" id="{A8CB66A5-8391-4BDA-A9AF-7C397E0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Camera Stream ve Teleoperation dışındaki özellikler</a:t>
            </a:r>
          </a:p>
        </p:txBody>
      </p:sp>
      <p:sp>
        <p:nvSpPr>
          <p:cNvPr id="3" name="summary-subtitle">
            <a:extLst xmlns:a="http://schemas.openxmlformats.org/drawingml/2006/main">
              <a:ext uri="{FF2B5EF4-FFF2-40B4-BE49-F238E27FC236}">
                <a16:creationId xmlns:a16="http://schemas.microsoft.com/office/drawing/2014/main" id="{085C0BBD-E7D4-4EE5-876C-E31DEEB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Platformun değerini kamera yayını veya uzaktan yürütme modlarına dayanmadan anlatan ürün katmanları.</a:t>
            </a:r>
          </a:p>
        </p:txBody>
      </p:sp>
      <p:sp>
        <p:nvSpPr>
          <p:cNvPr id="4" name="summary-accent-1">
            <a:extLst xmlns:a="http://schemas.openxmlformats.org/drawingml/2006/main">
              <a:ext uri="{FF2B5EF4-FFF2-40B4-BE49-F238E27FC236}">
                <a16:creationId xmlns:a16="http://schemas.microsoft.com/office/drawing/2014/main" id="{153ABE25-DE31-492F-9B5C-1F16266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ummary-column-title-1">
            <a:extLst xmlns:a="http://schemas.openxmlformats.org/drawingml/2006/main">
              <a:ext uri="{FF2B5EF4-FFF2-40B4-BE49-F238E27FC236}">
                <a16:creationId xmlns:a16="http://schemas.microsoft.com/office/drawing/2014/main" id="{23C6B5C8-67D6-4712-AEE4-2B746EFF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Cockpit ve AI</a:t>
            </a:r>
          </a:p>
        </p:txBody>
      </p:sp>
      <p:sp>
        <p:nvSpPr>
          <p:cNvPr id="6" name="summary-dot-1-0">
            <a:extLst xmlns:a="http://schemas.openxmlformats.org/drawingml/2006/main">
              <a:ext uri="{FF2B5EF4-FFF2-40B4-BE49-F238E27FC236}">
                <a16:creationId xmlns:a16="http://schemas.microsoft.com/office/drawing/2014/main" id="{E782920F-02C3-4BE3-A23F-A49B4820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mmary-item-1-0">
            <a:extLst xmlns:a="http://schemas.openxmlformats.org/drawingml/2006/main">
              <a:ext uri="{FF2B5EF4-FFF2-40B4-BE49-F238E27FC236}">
                <a16:creationId xmlns:a16="http://schemas.microsoft.com/office/drawing/2014/main" id="{82752ACF-2A1E-408B-94EB-E53764A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AI Chatbot ile doğal dil komut ve cevap akışı</a:t>
            </a:r>
          </a:p>
        </p:txBody>
      </p:sp>
      <p:sp>
        <p:nvSpPr>
          <p:cNvPr id="8" name="summary-dot-1-1">
            <a:extLst xmlns:a="http://schemas.openxmlformats.org/drawingml/2006/main">
              <a:ext uri="{FF2B5EF4-FFF2-40B4-BE49-F238E27FC236}">
                <a16:creationId xmlns:a16="http://schemas.microsoft.com/office/drawing/2014/main" id="{C9E43975-E384-4751-86AB-7B1BEA92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mmary-item-1-1">
            <a:extLst xmlns:a="http://schemas.openxmlformats.org/drawingml/2006/main">
              <a:ext uri="{FF2B5EF4-FFF2-40B4-BE49-F238E27FC236}">
                <a16:creationId xmlns:a16="http://schemas.microsoft.com/office/drawing/2014/main" id="{71A3217D-8F84-4FA9-9A63-F6D21C84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Bilgi akışı / RAG ile robot bağlamını toplama</a:t>
            </a:r>
          </a:p>
        </p:txBody>
      </p:sp>
      <p:sp>
        <p:nvSpPr>
          <p:cNvPr id="10" name="summary-dot-1-2">
            <a:extLst xmlns:a="http://schemas.openxmlformats.org/drawingml/2006/main">
              <a:ext uri="{FF2B5EF4-FFF2-40B4-BE49-F238E27FC236}">
                <a16:creationId xmlns:a16="http://schemas.microsoft.com/office/drawing/2014/main" id="{BF43D49A-E3E9-4F68-94F4-2B39314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mmary-item-1-2">
            <a:extLst xmlns:a="http://schemas.openxmlformats.org/drawingml/2006/main">
              <a:ext uri="{FF2B5EF4-FFF2-40B4-BE49-F238E27FC236}">
                <a16:creationId xmlns:a16="http://schemas.microsoft.com/office/drawing/2014/main" id="{71EB9F1E-E26F-430E-8ED0-0C507D0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Twin ile dijital sahne ve durum hissi</a:t>
            </a:r>
          </a:p>
        </p:txBody>
      </p:sp>
      <p:sp>
        <p:nvSpPr>
          <p:cNvPr id="12" name="summary-dot-1-3">
            <a:extLst xmlns:a="http://schemas.openxmlformats.org/drawingml/2006/main">
              <a:ext uri="{FF2B5EF4-FFF2-40B4-BE49-F238E27FC236}">
                <a16:creationId xmlns:a16="http://schemas.microsoft.com/office/drawing/2014/main" id="{D0110764-0F71-46B5-9DF9-3EDEA65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mmary-item-1-3">
            <a:extLst xmlns:a="http://schemas.openxmlformats.org/drawingml/2006/main">
              <a:ext uri="{FF2B5EF4-FFF2-40B4-BE49-F238E27FC236}">
                <a16:creationId xmlns:a16="http://schemas.microsoft.com/office/drawing/2014/main" id="{BAA415C0-742B-4962-8DE9-97C16EB5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Tek cockpit içinde operatör karar ekranı</a:t>
            </a:r>
          </a:p>
        </p:txBody>
      </p:sp>
      <p:sp>
        <p:nvSpPr>
          <p:cNvPr id="14" name="summary-accent-2">
            <a:extLst xmlns:a="http://schemas.openxmlformats.org/drawingml/2006/main">
              <a:ext uri="{FF2B5EF4-FFF2-40B4-BE49-F238E27FC236}">
                <a16:creationId xmlns:a16="http://schemas.microsoft.com/office/drawing/2014/main" id="{3BB516E3-7CCC-43C9-A41C-8D0154D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ummary-column-title-2">
            <a:extLst xmlns:a="http://schemas.openxmlformats.org/drawingml/2006/main">
              <a:ext uri="{FF2B5EF4-FFF2-40B4-BE49-F238E27FC236}">
                <a16:creationId xmlns:a16="http://schemas.microsoft.com/office/drawing/2014/main" id="{09F93FB2-4CD9-4A11-AA0F-4875ACA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Telemetry</a:t>
            </a:r>
          </a:p>
        </p:txBody>
      </p:sp>
      <p:sp>
        <p:nvSpPr>
          <p:cNvPr id="16" name="summary-dot-2-0">
            <a:extLst xmlns:a="http://schemas.openxmlformats.org/drawingml/2006/main">
              <a:ext uri="{FF2B5EF4-FFF2-40B4-BE49-F238E27FC236}">
                <a16:creationId xmlns:a16="http://schemas.microsoft.com/office/drawing/2014/main" id="{275B9D02-32DD-4752-AD2E-3608401D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ummary-item-2-0">
            <a:extLst xmlns:a="http://schemas.openxmlformats.org/drawingml/2006/main">
              <a:ext uri="{FF2B5EF4-FFF2-40B4-BE49-F238E27FC236}">
                <a16:creationId xmlns:a16="http://schemas.microsoft.com/office/drawing/2014/main" id="{06400A28-3AF6-4DB5-BE61-07951529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Live Dashboard ile anlık robot durumu</a:t>
            </a:r>
          </a:p>
        </p:txBody>
      </p:sp>
      <p:sp>
        <p:nvSpPr>
          <p:cNvPr id="18" name="summary-dot-2-1">
            <a:extLst xmlns:a="http://schemas.openxmlformats.org/drawingml/2006/main">
              <a:ext uri="{FF2B5EF4-FFF2-40B4-BE49-F238E27FC236}">
                <a16:creationId xmlns:a16="http://schemas.microsoft.com/office/drawing/2014/main" id="{BD3D500E-9961-45BB-BA34-8FF112FD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ummary-item-2-1">
            <a:extLst xmlns:a="http://schemas.openxmlformats.org/drawingml/2006/main">
              <a:ext uri="{FF2B5EF4-FFF2-40B4-BE49-F238E27FC236}">
                <a16:creationId xmlns:a16="http://schemas.microsoft.com/office/drawing/2014/main" id="{039C0838-D042-4CA0-AF8A-220B0B40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Motor ve sistem örneklerini okunabilir hale getirme</a:t>
            </a:r>
          </a:p>
        </p:txBody>
      </p:sp>
      <p:sp>
        <p:nvSpPr>
          <p:cNvPr id="20" name="summary-dot-2-2">
            <a:extLst xmlns:a="http://schemas.openxmlformats.org/drawingml/2006/main">
              <a:ext uri="{FF2B5EF4-FFF2-40B4-BE49-F238E27FC236}">
                <a16:creationId xmlns:a16="http://schemas.microsoft.com/office/drawing/2014/main" id="{8A5E66CF-4E3F-4C37-9286-98BE9CD2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ummary-item-2-2">
            <a:extLst xmlns:a="http://schemas.openxmlformats.org/drawingml/2006/main">
              <a:ext uri="{FF2B5EF4-FFF2-40B4-BE49-F238E27FC236}">
                <a16:creationId xmlns:a16="http://schemas.microsoft.com/office/drawing/2014/main" id="{A2392BB0-778B-48CF-82CC-AA99B9E8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ROS Visibility ile altyapı sinyallerini görünür kılma</a:t>
            </a:r>
          </a:p>
        </p:txBody>
      </p:sp>
      <p:sp>
        <p:nvSpPr>
          <p:cNvPr id="22" name="summary-dot-2-3">
            <a:extLst xmlns:a="http://schemas.openxmlformats.org/drawingml/2006/main">
              <a:ext uri="{FF2B5EF4-FFF2-40B4-BE49-F238E27FC236}">
                <a16:creationId xmlns:a16="http://schemas.microsoft.com/office/drawing/2014/main" id="{3BAC5C97-2047-4C1E-A9A9-85596491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ummary-item-2-3">
            <a:extLst xmlns:a="http://schemas.openxmlformats.org/drawingml/2006/main">
              <a:ext uri="{FF2B5EF4-FFF2-40B4-BE49-F238E27FC236}">
                <a16:creationId xmlns:a16="http://schemas.microsoft.com/office/drawing/2014/main" id="{08E9C1E0-9197-484B-B25A-43905A9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Log, durum ve hata bilgisini aynı deneyime bağlama</a:t>
            </a:r>
          </a:p>
        </p:txBody>
      </p:sp>
      <p:sp>
        <p:nvSpPr>
          <p:cNvPr id="24" name="summary-accent-3">
            <a:extLst xmlns:a="http://schemas.openxmlformats.org/drawingml/2006/main">
              <a:ext uri="{FF2B5EF4-FFF2-40B4-BE49-F238E27FC236}">
                <a16:creationId xmlns:a16="http://schemas.microsoft.com/office/drawing/2014/main" id="{DB4E2D7A-CD0B-4BE6-9D46-C5C24FE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ummary-column-title-3">
            <a:extLst xmlns:a="http://schemas.openxmlformats.org/drawingml/2006/main">
              <a:ext uri="{FF2B5EF4-FFF2-40B4-BE49-F238E27FC236}">
                <a16:creationId xmlns:a16="http://schemas.microsoft.com/office/drawing/2014/main" id="{9542CB7D-BD85-4453-9A8F-BDF5C68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Sequence Planning</a:t>
            </a:r>
          </a:p>
        </p:txBody>
      </p:sp>
      <p:sp>
        <p:nvSpPr>
          <p:cNvPr id="26" name="summary-dot-3-0">
            <a:extLst xmlns:a="http://schemas.openxmlformats.org/drawingml/2006/main">
              <a:ext uri="{FF2B5EF4-FFF2-40B4-BE49-F238E27FC236}">
                <a16:creationId xmlns:a16="http://schemas.microsoft.com/office/drawing/2014/main" id="{57462B64-BB98-4779-B659-4B499F2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ummary-item-3-0">
            <a:extLst xmlns:a="http://schemas.openxmlformats.org/drawingml/2006/main">
              <a:ext uri="{FF2B5EF4-FFF2-40B4-BE49-F238E27FC236}">
                <a16:creationId xmlns:a16="http://schemas.microsoft.com/office/drawing/2014/main" id="{085F348E-0A53-4897-8173-B558CBC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Add Point ve Pose Capture ile hareket noktası kaydı</a:t>
            </a:r>
          </a:p>
        </p:txBody>
      </p:sp>
      <p:sp>
        <p:nvSpPr>
          <p:cNvPr id="28" name="summary-dot-3-1">
            <a:extLst xmlns:a="http://schemas.openxmlformats.org/drawingml/2006/main">
              <a:ext uri="{FF2B5EF4-FFF2-40B4-BE49-F238E27FC236}">
                <a16:creationId xmlns:a16="http://schemas.microsoft.com/office/drawing/2014/main" id="{798A8D34-1722-480C-941A-F7BF126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ummary-item-3-1">
            <a:extLst xmlns:a="http://schemas.openxmlformats.org/drawingml/2006/main">
              <a:ext uri="{FF2B5EF4-FFF2-40B4-BE49-F238E27FC236}">
                <a16:creationId xmlns:a16="http://schemas.microsoft.com/office/drawing/2014/main" id="{A30FF992-1702-4567-9D98-7D9D21ED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Sequence Builder ile tekrar oynatılabilir hareket</a:t>
            </a:r>
          </a:p>
        </p:txBody>
      </p:sp>
      <p:sp>
        <p:nvSpPr>
          <p:cNvPr id="30" name="summary-dot-3-2">
            <a:extLst xmlns:a="http://schemas.openxmlformats.org/drawingml/2006/main">
              <a:ext uri="{FF2B5EF4-FFF2-40B4-BE49-F238E27FC236}">
                <a16:creationId xmlns:a16="http://schemas.microsoft.com/office/drawing/2014/main" id="{CC2DDA57-9192-4ED7-BF8A-78A9F47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ummary-item-3-2">
            <a:extLst xmlns:a="http://schemas.openxmlformats.org/drawingml/2006/main">
              <a:ext uri="{FF2B5EF4-FFF2-40B4-BE49-F238E27FC236}">
                <a16:creationId xmlns:a16="http://schemas.microsoft.com/office/drawing/2014/main" id="{44C264DE-0344-4E9E-B0B5-3BA72D05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Trajectory Planning ile hareket önizleme</a:t>
            </a:r>
          </a:p>
        </p:txBody>
      </p:sp>
      <p:sp>
        <p:nvSpPr>
          <p:cNvPr id="32" name="summary-dot-3-3">
            <a:extLst xmlns:a="http://schemas.openxmlformats.org/drawingml/2006/main">
              <a:ext uri="{FF2B5EF4-FFF2-40B4-BE49-F238E27FC236}">
                <a16:creationId xmlns:a16="http://schemas.microsoft.com/office/drawing/2014/main" id="{77F26244-1A37-4C2C-8191-EF0A43F3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summary-item-3-3">
            <a:extLst xmlns:a="http://schemas.openxmlformats.org/drawingml/2006/main">
              <a:ext uri="{FF2B5EF4-FFF2-40B4-BE49-F238E27FC236}">
                <a16:creationId xmlns:a16="http://schemas.microsoft.com/office/drawing/2014/main" id="{4A34C9D7-E7A7-4B69-9B46-432A309D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Crazy Seconds / demo timing ile sahneye hazır akış</a:t>
            </a:r>
          </a:p>
        </p:txBody>
      </p:sp>
      <p:sp>
        <p:nvSpPr>
          <p:cNvPr id="34" name="summary-accent-4">
            <a:extLst xmlns:a="http://schemas.openxmlformats.org/drawingml/2006/main">
              <a:ext uri="{FF2B5EF4-FFF2-40B4-BE49-F238E27FC236}">
                <a16:creationId xmlns:a16="http://schemas.microsoft.com/office/drawing/2014/main" id="{2B3B6C7C-D2B3-4E47-8004-DF727B22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ummary-column-title-4">
            <a:extLst xmlns:a="http://schemas.openxmlformats.org/drawingml/2006/main">
              <a:ext uri="{FF2B5EF4-FFF2-40B4-BE49-F238E27FC236}">
                <a16:creationId xmlns:a16="http://schemas.microsoft.com/office/drawing/2014/main" id="{DF069BEB-1216-48D1-A984-4C1A8245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Doğrulama</a:t>
            </a:r>
          </a:p>
        </p:txBody>
      </p:sp>
      <p:sp>
        <p:nvSpPr>
          <p:cNvPr id="36" name="summary-dot-4-0">
            <a:extLst xmlns:a="http://schemas.openxmlformats.org/drawingml/2006/main">
              <a:ext uri="{FF2B5EF4-FFF2-40B4-BE49-F238E27FC236}">
                <a16:creationId xmlns:a16="http://schemas.microsoft.com/office/drawing/2014/main" id="{46BF30B7-66F6-45ED-B6EF-6A64DD8D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summary-item-4-0">
            <a:extLst xmlns:a="http://schemas.openxmlformats.org/drawingml/2006/main">
              <a:ext uri="{FF2B5EF4-FFF2-40B4-BE49-F238E27FC236}">
                <a16:creationId xmlns:a16="http://schemas.microsoft.com/office/drawing/2014/main" id="{CCC25C07-1392-47D4-A6DC-1C519829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IK çözüm hatasını cm seviyesinde izleme</a:t>
            </a:r>
          </a:p>
        </p:txBody>
      </p:sp>
      <p:sp>
        <p:nvSpPr>
          <p:cNvPr id="38" name="summary-dot-4-1">
            <a:extLst xmlns:a="http://schemas.openxmlformats.org/drawingml/2006/main">
              <a:ext uri="{FF2B5EF4-FFF2-40B4-BE49-F238E27FC236}">
                <a16:creationId xmlns:a16="http://schemas.microsoft.com/office/drawing/2014/main" id="{59DCD151-D03D-49E5-BAF1-54119EC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summary-item-4-1">
            <a:extLst xmlns:a="http://schemas.openxmlformats.org/drawingml/2006/main">
              <a:ext uri="{FF2B5EF4-FFF2-40B4-BE49-F238E27FC236}">
                <a16:creationId xmlns:a16="http://schemas.microsoft.com/office/drawing/2014/main" id="{1C934687-CCD9-413D-BBFA-1CC91430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Bounds ve eklem limitleriyle güvenli sınır kontrolü</a:t>
            </a:r>
          </a:p>
        </p:txBody>
      </p:sp>
      <p:sp>
        <p:nvSpPr>
          <p:cNvPr id="40" name="summary-dot-4-2">
            <a:extLst xmlns:a="http://schemas.openxmlformats.org/drawingml/2006/main">
              <a:ext uri="{FF2B5EF4-FFF2-40B4-BE49-F238E27FC236}">
                <a16:creationId xmlns:a16="http://schemas.microsoft.com/office/drawing/2014/main" id="{876A55B3-C675-4707-B33C-7575D67B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ummary-item-4-2">
            <a:extLst xmlns:a="http://schemas.openxmlformats.org/drawingml/2006/main">
              <a:ext uri="{FF2B5EF4-FFF2-40B4-BE49-F238E27FC236}">
                <a16:creationId xmlns:a16="http://schemas.microsoft.com/office/drawing/2014/main" id="{7BD7F432-15B1-49E2-9039-A400CC69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Simülasyon, hedef replay ve referans karşılaştırması</a:t>
            </a:r>
          </a:p>
        </p:txBody>
      </p:sp>
      <p:sp>
        <p:nvSpPr>
          <p:cNvPr id="42" name="summary-dot-4-3">
            <a:extLst xmlns:a="http://schemas.openxmlformats.org/drawingml/2006/main">
              <a:ext uri="{FF2B5EF4-FFF2-40B4-BE49-F238E27FC236}">
                <a16:creationId xmlns:a16="http://schemas.microsoft.com/office/drawing/2014/main" id="{5E75EF89-CD79-4D07-9D0D-AA682D5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ummary-item-4-3">
            <a:extLst xmlns:a="http://schemas.openxmlformats.org/drawingml/2006/main">
              <a:ext uri="{FF2B5EF4-FFF2-40B4-BE49-F238E27FC236}">
                <a16:creationId xmlns:a16="http://schemas.microsoft.com/office/drawing/2014/main" id="{28B2257B-7CF8-47A6-898F-B0327ABB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7415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Save Real Robot Motion için doğrulama kapısı</a:t>
            </a:r>
          </a:p>
        </p:txBody>
      </p:sp>
      <p:sp>
        <p:nvSpPr>
          <p:cNvPr id="44" name="summary-footer-line">
            <a:extLst xmlns:a="http://schemas.openxmlformats.org/drawingml/2006/main">
              <a:ext uri="{FF2B5EF4-FFF2-40B4-BE49-F238E27FC236}">
                <a16:creationId xmlns:a16="http://schemas.microsoft.com/office/drawing/2014/main" id="{A61945C7-053D-4731-AC9B-9DC5B7AD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2460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ummary-footer">
            <a:extLst xmlns:a="http://schemas.openxmlformats.org/drawingml/2006/main">
              <a:ext uri="{FF2B5EF4-FFF2-40B4-BE49-F238E27FC236}">
                <a16:creationId xmlns:a16="http://schemas.microsoft.com/office/drawing/2014/main" id="{A1392C9E-70A5-4E90-B45F-5740DA0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64748B"/>
                </a:solidFill>
              </a:defRPr>
            </a:pPr>
            <a:r>
              <a:rPr sz="1200">
                <a:solidFill>
                  <a:srgbClr val="64748B"/>
                </a:solidFill>
              </a:rPr>
              <a:t>Kapsam dışı bırakılanlar: Camera Stream, Teleoperation / Remote Presence, VR walking control modes.</a:t>
            </a:r>
          </a:p>
        </p:txBody>
      </p:sp>
    </p:spTree>
    <p:extLst>
      <p:ext uri="{BB962C8B-B14F-4D97-AF65-F5344CB8AC3E}">
        <p14:creationId xmlns:p14="http://schemas.microsoft.com/office/powerpoint/2010/main" val="1369150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2026-07-07T08:31:23.2210000Z</dcterms:created>
  <dcterms:modified xsi:type="dcterms:W3CDTF">2026-07-07T08:31:23.2220000Z</dcterms:modified>
</coreProperties>
</file>