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638eb02eda4f30" /><Relationship Type="http://schemas.openxmlformats.org/officeDocument/2006/relationships/extended-properties" Target="/docProps/app.xml" Id="R257ef48f75a34fee" /><Relationship Type="http://schemas.openxmlformats.org/officeDocument/2006/relationships/officeDocument" Target="/ppt/presentation.xml" Id="Rc873c6dbaf7d41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7beec15e684553"/>
  </p:sldMasterIdLst>
  <p:notesMasterIdLst>
    <p:notesMasterId xmlns:r="http://schemas.openxmlformats.org/officeDocument/2006/relationships" r:id="R520bab3243ce489b"/>
  </p:notesMasterIdLst>
  <p:sldIdLst>
    <p:sldId xmlns:r="http://schemas.openxmlformats.org/officeDocument/2006/relationships" id="256" r:id="R3828bd6318f244e0"/>
    <p:sldId xmlns:r="http://schemas.openxmlformats.org/officeDocument/2006/relationships" id="257" r:id="R2ffae0b2eaa74164"/>
    <p:sldId xmlns:r="http://schemas.openxmlformats.org/officeDocument/2006/relationships" id="258" r:id="R2456f8c7f8f54263"/>
    <p:sldId xmlns:r="http://schemas.openxmlformats.org/officeDocument/2006/relationships" id="259" r:id="Rb83169189250418a"/>
    <p:sldId xmlns:r="http://schemas.openxmlformats.org/officeDocument/2006/relationships" id="260" r:id="Rba7e633c23594265"/>
    <p:sldId xmlns:r="http://schemas.openxmlformats.org/officeDocument/2006/relationships" id="261" r:id="R6fda93389eab45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c0704d7f6e47bc" /><Relationship Type="http://schemas.openxmlformats.org/officeDocument/2006/relationships/slideMaster" Target="/ppt/slideMasters/slideMaster1.xml" Id="R697beec15e684553" /><Relationship Type="http://schemas.openxmlformats.org/officeDocument/2006/relationships/notesMaster" Target="/ppt/notesMasters/notesMaster1.xml" Id="R520bab3243ce489b" /><Relationship Type="http://schemas.openxmlformats.org/officeDocument/2006/relationships/presProps" Target="/ppt/presProps.xml" Id="Rbf19092d02554e80" /><Relationship Type="http://schemas.openxmlformats.org/officeDocument/2006/relationships/tableStyles" Target="/ppt/tableStyles.xml" Id="Rab72d3fd571345c5" /><Relationship Type="http://schemas.openxmlformats.org/officeDocument/2006/relationships/slide" Target="/ppt/slides/slide1.xml" Id="R3828bd6318f244e0" /><Relationship Type="http://schemas.openxmlformats.org/officeDocument/2006/relationships/slide" Target="/ppt/slides/slide2.xml" Id="R2ffae0b2eaa74164" /><Relationship Type="http://schemas.openxmlformats.org/officeDocument/2006/relationships/slide" Target="/ppt/slides/slide3.xml" Id="R2456f8c7f8f54263" /><Relationship Type="http://schemas.openxmlformats.org/officeDocument/2006/relationships/slide" Target="/ppt/slides/slide4.xml" Id="Rb83169189250418a" /><Relationship Type="http://schemas.openxmlformats.org/officeDocument/2006/relationships/slide" Target="/ppt/slides/slide5.xml" Id="Rba7e633c23594265" /><Relationship Type="http://schemas.openxmlformats.org/officeDocument/2006/relationships/slide" Target="/ppt/slides/slide6.xml" Id="R6fda93389eab45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694fe81503479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816373d9aa4b40" /><Relationship Type="http://schemas.openxmlformats.org/officeDocument/2006/relationships/notesMaster" Target="/ppt/notesMasters/notesMaster1.xml" Id="Ra16fd979c99545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f317590316459b" /><Relationship Type="http://schemas.openxmlformats.org/officeDocument/2006/relationships/notesMaster" Target="/ppt/notesMasters/notesMaster1.xml" Id="R91cb0e878d2141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00866897a04e99" /><Relationship Type="http://schemas.openxmlformats.org/officeDocument/2006/relationships/notesMaster" Target="/ppt/notesMasters/notesMaster1.xml" Id="R76404760183548d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80779128394586" /><Relationship Type="http://schemas.openxmlformats.org/officeDocument/2006/relationships/notesMaster" Target="/ppt/notesMasters/notesMaster1.xml" Id="R5a1a987eabba466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3c1ef6fd7d24206" /><Relationship Type="http://schemas.openxmlformats.org/officeDocument/2006/relationships/notesMaster" Target="/ppt/notesMasters/notesMaster1.xml" Id="R566ccde1413c43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56c874d85f4747" /><Relationship Type="http://schemas.openxmlformats.org/officeDocument/2006/relationships/notesMaster" Target="/ppt/notesMasters/notesMaster1.xml" Id="R01d223f10c2648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2ebf569044d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9224f0e4dda43cf" /><Relationship Type="http://schemas.openxmlformats.org/officeDocument/2006/relationships/slideLayout" Target="/ppt/slideLayouts/slideLayout1.xml" Id="R3c589f2e177d477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589f2e177d477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dfc16bcc1a4257" /><Relationship Type="http://schemas.openxmlformats.org/officeDocument/2006/relationships/image" Target="/ppt/media/image.png" Id="R35a5c6a52f7544dd" /><Relationship Type="http://schemas.openxmlformats.org/officeDocument/2006/relationships/notesSlide" Target="/ppt/notesSlides/notesSlide1.xml" Id="Rb5f3e43b84fa43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f3f4d7d394e4b" /><Relationship Type="http://schemas.openxmlformats.org/officeDocument/2006/relationships/image" Target="/ppt/media/image2.png" Id="R901a454a95cd4a61" /><Relationship Type="http://schemas.openxmlformats.org/officeDocument/2006/relationships/image" Target="/ppt/media/image3.png" Id="Rc58ca7af93254888" /><Relationship Type="http://schemas.openxmlformats.org/officeDocument/2006/relationships/image" Target="/ppt/media/image4.png" Id="R072d7830247d4b39" /><Relationship Type="http://schemas.openxmlformats.org/officeDocument/2006/relationships/notesSlide" Target="/ppt/notesSlides/notesSlide2.xml" Id="Ra0ad5ca687be4d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43013254494b91" /><Relationship Type="http://schemas.openxmlformats.org/officeDocument/2006/relationships/image" Target="/ppt/media/image5.png" Id="R02ae4d53a3c94884" /><Relationship Type="http://schemas.openxmlformats.org/officeDocument/2006/relationships/notesSlide" Target="/ppt/notesSlides/notesSlide3.xml" Id="Rcacfc5b08efa43e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8ab9780564a36" /><Relationship Type="http://schemas.openxmlformats.org/officeDocument/2006/relationships/image" Target="/ppt/media/image6.png" Id="Rf7cefc1a84954155" /><Relationship Type="http://schemas.openxmlformats.org/officeDocument/2006/relationships/image" Target="/ppt/media/image7.png" Id="R19fc915154654e77" /><Relationship Type="http://schemas.openxmlformats.org/officeDocument/2006/relationships/image" Target="/ppt/media/image8.png" Id="R557c9eb9071a4cfc" /><Relationship Type="http://schemas.openxmlformats.org/officeDocument/2006/relationships/notesSlide" Target="/ppt/notesSlides/notesSlide4.xml" Id="Ref39f0823ad548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6361775fd40dd" /><Relationship Type="http://schemas.openxmlformats.org/officeDocument/2006/relationships/image" Target="/ppt/media/image.jpeg" Id="Refaf110127554146" /><Relationship Type="http://schemas.openxmlformats.org/officeDocument/2006/relationships/notesSlide" Target="/ppt/notesSlides/notesSlide5.xml" Id="R7f23ccb26bb549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95b51570ba4217" /><Relationship Type="http://schemas.openxmlformats.org/officeDocument/2006/relationships/image" Target="/ppt/media/image2.jpeg" Id="R96e27fb6c1534558" /><Relationship Type="http://schemas.openxmlformats.org/officeDocument/2006/relationships/notesSlide" Target="/ppt/notesSlides/notesSlide6.xml" Id="R77bce4c67ee945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a5c6a52f7544dd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1a454a95cd4a61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8ca7af93254888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d7830247d4b39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ae4d53a3c94884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efc1a84954155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c915154654e77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7c9eb9071a4cfc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lemetry-left-panel-soft-fill">
            <a:extLst xmlns:a="http://schemas.openxmlformats.org/drawingml/2006/main">
              <a:ext uri="{FF2B5EF4-FFF2-40B4-BE49-F238E27FC236}">
                <a16:creationId xmlns:a16="http://schemas.microsoft.com/office/drawing/2014/main" id="{CBC62815-18EF-469D-8AF6-046FC619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34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lemetry-eyebrow">
            <a:extLst xmlns:a="http://schemas.openxmlformats.org/drawingml/2006/main">
              <a:ext uri="{FF2B5EF4-FFF2-40B4-BE49-F238E27FC236}">
                <a16:creationId xmlns:a16="http://schemas.microsoft.com/office/drawing/2014/main" id="{E0530488-1AE3-44F2-92D7-4DFACCCD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91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22C55E"/>
                </a:solidFill>
              </a:defRPr>
            </a:pPr>
            <a:r>
              <a:rPr sz="1050" b="1">
                <a:solidFill>
                  <a:srgbClr val="22C55E"/>
                </a:solidFill>
              </a:rPr>
              <a:t>ROBOT TELEMETRY WORKFLOW</a:t>
            </a:r>
          </a:p>
        </p:txBody>
      </p:sp>
      <p:sp>
        <p:nvSpPr>
          <p:cNvPr id="3" name="telemetry-title">
            <a:extLst xmlns:a="http://schemas.openxmlformats.org/drawingml/2006/main">
              <a:ext uri="{FF2B5EF4-FFF2-40B4-BE49-F238E27FC236}">
                <a16:creationId xmlns:a16="http://schemas.microsoft.com/office/drawing/2014/main" id="{15A7CE41-3219-40BB-AE6C-BDEE049C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81050"/>
            <a:ext cx="4457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Telemetry Recorder</a:t>
            </a:r>
          </a:p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hareketi doğruluyor</a:t>
            </a:r>
          </a:p>
        </p:txBody>
      </p:sp>
      <p:sp>
        <p:nvSpPr>
          <p:cNvPr id="4" name="telemetry-subtitle">
            <a:extLst xmlns:a="http://schemas.openxmlformats.org/drawingml/2006/main">
              <a:ext uri="{FF2B5EF4-FFF2-40B4-BE49-F238E27FC236}">
                <a16:creationId xmlns:a16="http://schemas.microsoft.com/office/drawing/2014/main" id="{E45BB33F-575A-492B-9A5A-956A57CF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81200"/>
            <a:ext cx="4343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Ekran; motor örneklerinden sequence oluşturma, simülasyonla kontrol etme ve güvenli hareketi gerçek robota kaydetme akışını tek yerde topluyor.</a:t>
            </a:r>
          </a:p>
        </p:txBody>
      </p:sp>
      <p:sp>
        <p:nvSpPr>
          <p:cNvPr id="5" name="telemetry-feature-accent-0">
            <a:extLst xmlns:a="http://schemas.openxmlformats.org/drawingml/2006/main">
              <a:ext uri="{FF2B5EF4-FFF2-40B4-BE49-F238E27FC236}">
                <a16:creationId xmlns:a16="http://schemas.microsoft.com/office/drawing/2014/main" id="{8FC66A6B-49E4-41DE-87C3-C8CF75433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lemetry-feature-title-0">
            <a:extLst xmlns:a="http://schemas.openxmlformats.org/drawingml/2006/main">
              <a:ext uri="{FF2B5EF4-FFF2-40B4-BE49-F238E27FC236}">
                <a16:creationId xmlns:a16="http://schemas.microsoft.com/office/drawing/2014/main" id="{8E20D219-CA99-478A-8D9D-DC5DD87E1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Sıralı hareket noktaları</a:t>
            </a:r>
          </a:p>
        </p:txBody>
      </p:sp>
      <p:sp>
        <p:nvSpPr>
          <p:cNvPr id="7" name="telemetry-feature-body-0">
            <a:extLst xmlns:a="http://schemas.openxmlformats.org/drawingml/2006/main">
              <a:ext uri="{FF2B5EF4-FFF2-40B4-BE49-F238E27FC236}">
                <a16:creationId xmlns:a16="http://schemas.microsoft.com/office/drawing/2014/main" id="{6B6E15C2-3727-42DB-BEE8-A0ABEEDB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Her point; 27 motor, zaman damgası ve replay sırası ile tutuluyor. Seçili point anında izlenebiliyor.</a:t>
            </a:r>
          </a:p>
        </p:txBody>
      </p:sp>
      <p:sp>
        <p:nvSpPr>
          <p:cNvPr id="8" name="telemetry-feature-accent-1">
            <a:extLst xmlns:a="http://schemas.openxmlformats.org/drawingml/2006/main">
              <a:ext uri="{FF2B5EF4-FFF2-40B4-BE49-F238E27FC236}">
                <a16:creationId xmlns:a16="http://schemas.microsoft.com/office/drawing/2014/main" id="{DAB6BB22-EF92-47F1-BD41-BD907E6D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lemetry-feature-title-1">
            <a:extLst xmlns:a="http://schemas.openxmlformats.org/drawingml/2006/main">
              <a:ext uri="{FF2B5EF4-FFF2-40B4-BE49-F238E27FC236}">
                <a16:creationId xmlns:a16="http://schemas.microsoft.com/office/drawing/2014/main" id="{AC806578-7BBB-4540-9C57-85E01AF6D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290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IK ve sınır doğrulaması</a:t>
            </a:r>
          </a:p>
        </p:txBody>
      </p:sp>
      <p:sp>
        <p:nvSpPr>
          <p:cNvPr id="10" name="telemetry-feature-body-1">
            <a:extLst xmlns:a="http://schemas.openxmlformats.org/drawingml/2006/main">
              <a:ext uri="{FF2B5EF4-FFF2-40B4-BE49-F238E27FC236}">
                <a16:creationId xmlns:a16="http://schemas.microsoft.com/office/drawing/2014/main" id="{371BEEDB-9C55-457B-9D96-5B8730FA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IK hatası cm seviyesinde gösteriliyor; bounds açıkken güvenli eklem limitleri korunuyor.</a:t>
            </a:r>
          </a:p>
        </p:txBody>
      </p:sp>
      <p:sp>
        <p:nvSpPr>
          <p:cNvPr id="11" name="telemetry-feature-accent-2">
            <a:extLst xmlns:a="http://schemas.openxmlformats.org/drawingml/2006/main">
              <a:ext uri="{FF2B5EF4-FFF2-40B4-BE49-F238E27FC236}">
                <a16:creationId xmlns:a16="http://schemas.microsoft.com/office/drawing/2014/main" id="{6503815F-41CD-47FB-B482-0A8376C0F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lemetry-feature-title-2">
            <a:extLst xmlns:a="http://schemas.openxmlformats.org/drawingml/2006/main">
              <a:ext uri="{FF2B5EF4-FFF2-40B4-BE49-F238E27FC236}">
                <a16:creationId xmlns:a16="http://schemas.microsoft.com/office/drawing/2014/main" id="{E1869618-7C79-449C-9698-2E8A8D2D8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Simülasyon ve replay karşılaştırması</a:t>
            </a:r>
          </a:p>
        </p:txBody>
      </p:sp>
      <p:sp>
        <p:nvSpPr>
          <p:cNvPr id="13" name="telemetry-feature-body-2">
            <a:extLst xmlns:a="http://schemas.openxmlformats.org/drawingml/2006/main">
              <a:ext uri="{FF2B5EF4-FFF2-40B4-BE49-F238E27FC236}">
                <a16:creationId xmlns:a16="http://schemas.microsoft.com/office/drawing/2014/main" id="{FF9752D7-79E3-4A21-A31F-FAC4A3CFF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Mavi referans, yeşil simülasyon ve kırmızı hedef hareket aynı sahnede üst üste okunuyor.</a:t>
            </a:r>
          </a:p>
        </p:txBody>
      </p:sp>
      <p:sp>
        <p:nvSpPr>
          <p:cNvPr id="14" name="telemetry-feature-accent-3">
            <a:extLst xmlns:a="http://schemas.openxmlformats.org/drawingml/2006/main">
              <a:ext uri="{FF2B5EF4-FFF2-40B4-BE49-F238E27FC236}">
                <a16:creationId xmlns:a16="http://schemas.microsoft.com/office/drawing/2014/main" id="{EB0989C0-18AE-4350-9C5B-3A02C6FB3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76200" cy="742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11D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lemetry-feature-title-3">
            <a:extLst xmlns:a="http://schemas.openxmlformats.org/drawingml/2006/main">
              <a:ext uri="{FF2B5EF4-FFF2-40B4-BE49-F238E27FC236}">
                <a16:creationId xmlns:a16="http://schemas.microsoft.com/office/drawing/2014/main" id="{B9FE1970-A69E-4F01-B94D-A2E73091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4210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8FAFC"/>
                </a:solidFill>
              </a:defRPr>
            </a:pPr>
            <a:r>
              <a:rPr sz="1425" b="1">
                <a:solidFill>
                  <a:srgbClr val="F8FAFC"/>
                </a:solidFill>
              </a:rPr>
              <a:t>Gerçek robota aktarım kapısı</a:t>
            </a:r>
          </a:p>
        </p:txBody>
      </p:sp>
      <p:sp>
        <p:nvSpPr>
          <p:cNvPr id="16" name="telemetry-feature-body-3">
            <a:extLst xmlns:a="http://schemas.openxmlformats.org/drawingml/2006/main">
              <a:ext uri="{FF2B5EF4-FFF2-40B4-BE49-F238E27FC236}">
                <a16:creationId xmlns:a16="http://schemas.microsoft.com/office/drawing/2014/main" id="{367EAC65-924B-4414-A99D-5659B5C47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81700"/>
            <a:ext cx="4286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Add Point, Simulate Trajectory, Move Arms ve Save Real Robot Motion adımları aynı operatör akışında.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f110127554146"/>
          <a:stretch xmlns:a="http://schemas.openxmlformats.org/drawingml/2006/main"/>
        </p:blipFill>
        <p:spPr>
          <a:xfrm xmlns:a="http://schemas.openxmlformats.org/drawingml/2006/main">
            <a:off x="5623031" y="685800"/>
            <a:ext cx="6089438" cy="4419600"/>
          </a:xfrm>
          <a:prstGeom xmlns:a="http://schemas.openxmlformats.org/drawingml/2006/main" prst="rect">
            <a:avLst/>
          </a:prstGeom>
        </p:spPr>
      </p:pic>
      <p:sp>
        <p:nvSpPr>
          <p:cNvPr id="18" name="telemetry-screenshot-outline">
            <a:extLst xmlns:a="http://schemas.openxmlformats.org/drawingml/2006/main">
              <a:ext uri="{FF2B5EF4-FFF2-40B4-BE49-F238E27FC236}">
                <a16:creationId xmlns:a16="http://schemas.microsoft.com/office/drawing/2014/main" id="{082F7060-BDE9-409D-9804-92E493DC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85800"/>
            <a:ext cx="6096000" cy="441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telemetry-screenshot-caption">
            <a:extLst xmlns:a="http://schemas.openxmlformats.org/drawingml/2006/main">
              <a:ext uri="{FF2B5EF4-FFF2-40B4-BE49-F238E27FC236}">
                <a16:creationId xmlns:a16="http://schemas.microsoft.com/office/drawing/2014/main" id="{94A23EB0-00F6-4EF4-866E-D7181C9A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286375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E2E8F0"/>
                </a:solidFill>
              </a:defRPr>
            </a:pPr>
            <a:r>
              <a:rPr sz="1275">
                <a:solidFill>
                  <a:srgbClr val="E2E8F0"/>
                </a:solidFill>
              </a:rPr>
              <a:t>Canlı operatör görünümü: solda sequence listesi, ortada 3D robot replay, üstte güvenlik ve kayıt aksiyonları.</a:t>
            </a:r>
          </a:p>
        </p:txBody>
      </p:sp>
      <p:sp>
        <p:nvSpPr>
          <p:cNvPr id="20" name="telemetry-bottom-safety-band">
            <a:extLst xmlns:a="http://schemas.openxmlformats.org/drawingml/2006/main">
              <a:ext uri="{FF2B5EF4-FFF2-40B4-BE49-F238E27FC236}">
                <a16:creationId xmlns:a16="http://schemas.microsoft.com/office/drawing/2014/main" id="{2D0F7468-B38C-4A85-8788-F1422690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6000750"/>
            <a:ext cx="6096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telemetry-bottom-safety-copy">
            <a:extLst xmlns:a="http://schemas.openxmlformats.org/drawingml/2006/main">
              <a:ext uri="{FF2B5EF4-FFF2-40B4-BE49-F238E27FC236}">
                <a16:creationId xmlns:a16="http://schemas.microsoft.com/office/drawing/2014/main" id="{C181BE3B-C677-4693-B18D-7B6FF35B6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6105525"/>
            <a:ext cx="5676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8FAFC"/>
                </a:solidFill>
              </a:defRPr>
            </a:pPr>
            <a:r>
              <a:rPr sz="1200" b="1">
                <a:solidFill>
                  <a:srgbClr val="F8FAFC"/>
                </a:solidFill>
              </a:rPr>
              <a:t>Amaç: hareket komutu gerçek robota gitmeden önce kayıt, görünürlük ve simülasyon doğrulaması tamamlanır.</a:t>
            </a:r>
          </a:p>
        </p:txBody>
      </p:sp>
    </p:spTree>
    <p:extLst>
      <p:ext uri="{BB962C8B-B14F-4D97-AF65-F5344CB8AC3E}">
        <p14:creationId xmlns:p14="http://schemas.microsoft.com/office/powerpoint/2010/main" val="1917662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xr-left-panel">
            <a:extLst xmlns:a="http://schemas.openxmlformats.org/drawingml/2006/main">
              <a:ext uri="{FF2B5EF4-FFF2-40B4-BE49-F238E27FC236}">
                <a16:creationId xmlns:a16="http://schemas.microsoft.com/office/drawing/2014/main" id="{C340BB2D-AFBE-436C-B2BC-D8A68FF3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219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xr-eyebrow">
            <a:extLst xmlns:a="http://schemas.openxmlformats.org/drawingml/2006/main">
              <a:ext uri="{FF2B5EF4-FFF2-40B4-BE49-F238E27FC236}">
                <a16:creationId xmlns:a16="http://schemas.microsoft.com/office/drawing/2014/main" id="{D9995331-F557-41F7-9910-491418D7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91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38BDF8"/>
                </a:solidFill>
              </a:defRPr>
            </a:pPr>
            <a:r>
              <a:rPr sz="1050" b="1">
                <a:solidFill>
                  <a:srgbClr val="38BDF8"/>
                </a:solidFill>
              </a:rPr>
              <a:t>XR WALKING CONTROL</a:t>
            </a:r>
          </a:p>
        </p:txBody>
      </p:sp>
      <p:sp>
        <p:nvSpPr>
          <p:cNvPr id="3" name="xr-title">
            <a:extLst xmlns:a="http://schemas.openxmlformats.org/drawingml/2006/main">
              <a:ext uri="{FF2B5EF4-FFF2-40B4-BE49-F238E27FC236}">
                <a16:creationId xmlns:a16="http://schemas.microsoft.com/office/drawing/2014/main" id="{9ABBD2E8-B1C0-4DF6-9259-E5CD94386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83820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Robotu yürütmenin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üç yolu</a:t>
            </a:r>
          </a:p>
        </p:txBody>
      </p:sp>
      <p:sp>
        <p:nvSpPr>
          <p:cNvPr id="4" name="xr-subtitle">
            <a:extLst xmlns:a="http://schemas.openxmlformats.org/drawingml/2006/main">
              <a:ext uri="{FF2B5EF4-FFF2-40B4-BE49-F238E27FC236}">
                <a16:creationId xmlns:a16="http://schemas.microsoft.com/office/drawing/2014/main" id="{F69F51C3-D3BE-4412-B29D-510531BF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057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CBD5E1"/>
                </a:solidFill>
              </a:defRPr>
            </a:pPr>
            <a:r>
              <a:rPr sz="1350">
                <a:solidFill>
                  <a:srgbClr val="CBD5E1"/>
                </a:solidFill>
              </a:rPr>
              <a:t>Operatör; hassas manuel komut, baş yönüyle sezgisel sürüş veya pozisyon eşleme arasında geçiş yapabiliyor.</a:t>
            </a:r>
          </a:p>
        </p:txBody>
      </p:sp>
      <p:sp>
        <p:nvSpPr>
          <p:cNvPr id="5" name="xr-control-index-1">
            <a:extLst xmlns:a="http://schemas.openxmlformats.org/drawingml/2006/main">
              <a:ext uri="{FF2B5EF4-FFF2-40B4-BE49-F238E27FC236}">
                <a16:creationId xmlns:a16="http://schemas.microsoft.com/office/drawing/2014/main" id="{AAFDF8A3-9BC0-4402-A2E7-D39A8FAB6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908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xr-control-index-text-1">
            <a:extLst xmlns:a="http://schemas.openxmlformats.org/drawingml/2006/main">
              <a:ext uri="{FF2B5EF4-FFF2-40B4-BE49-F238E27FC236}">
                <a16:creationId xmlns:a16="http://schemas.microsoft.com/office/drawing/2014/main" id="{9D352A34-8BBB-43F2-A3E4-917DB779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384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xr-control-title-1">
            <a:extLst xmlns:a="http://schemas.openxmlformats.org/drawingml/2006/main">
              <a:ext uri="{FF2B5EF4-FFF2-40B4-BE49-F238E27FC236}">
                <a16:creationId xmlns:a16="http://schemas.microsoft.com/office/drawing/2014/main" id="{DCAD1547-2520-4F8C-AAEE-A66EC294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Floating VR Control Pad</a:t>
            </a:r>
          </a:p>
        </p:txBody>
      </p:sp>
      <p:sp>
        <p:nvSpPr>
          <p:cNvPr id="8" name="xr-control-body-1">
            <a:extLst xmlns:a="http://schemas.openxmlformats.org/drawingml/2006/main">
              <a:ext uri="{FF2B5EF4-FFF2-40B4-BE49-F238E27FC236}">
                <a16:creationId xmlns:a16="http://schemas.microsoft.com/office/drawing/2014/main" id="{DFB78ADE-ABED-47ED-9A14-96C1E42A5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670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Sanal joystick/pad ile hız ve yön verilir. Demo, dar alan ve hassas manuel sürüş için uygun.</a:t>
            </a:r>
          </a:p>
        </p:txBody>
      </p:sp>
      <p:sp>
        <p:nvSpPr>
          <p:cNvPr id="9" name="xr-control-index-2">
            <a:extLst xmlns:a="http://schemas.openxmlformats.org/drawingml/2006/main">
              <a:ext uri="{FF2B5EF4-FFF2-40B4-BE49-F238E27FC236}">
                <a16:creationId xmlns:a16="http://schemas.microsoft.com/office/drawing/2014/main" id="{6B8E75E8-B335-41BC-8392-447E4CE8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xr-control-index-text-2">
            <a:extLst xmlns:a="http://schemas.openxmlformats.org/drawingml/2006/main">
              <a:ext uri="{FF2B5EF4-FFF2-40B4-BE49-F238E27FC236}">
                <a16:creationId xmlns:a16="http://schemas.microsoft.com/office/drawing/2014/main" id="{11F13662-6559-45B7-90F7-36A566BA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2432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xr-control-title-2">
            <a:extLst xmlns:a="http://schemas.openxmlformats.org/drawingml/2006/main">
              <a:ext uri="{FF2B5EF4-FFF2-40B4-BE49-F238E27FC236}">
                <a16:creationId xmlns:a16="http://schemas.microsoft.com/office/drawing/2014/main" id="{58C1152E-2CEF-4CE8-BBEC-C7B8BF61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5765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Head Rotation Control</a:t>
            </a:r>
          </a:p>
        </p:txBody>
      </p:sp>
      <p:sp>
        <p:nvSpPr>
          <p:cNvPr id="12" name="xr-control-body-2">
            <a:extLst xmlns:a="http://schemas.openxmlformats.org/drawingml/2006/main">
              <a:ext uri="{FF2B5EF4-FFF2-40B4-BE49-F238E27FC236}">
                <a16:creationId xmlns:a16="http://schemas.microsoft.com/office/drawing/2014/main" id="{01C67911-163B-4008-8DDA-8EDFA506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5292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Başın baktığı yön robotun yürüyüş niyetine çevrilir. Operatör robotu bakışla yönlendirir.</a:t>
            </a:r>
          </a:p>
        </p:txBody>
      </p:sp>
      <p:sp>
        <p:nvSpPr>
          <p:cNvPr id="13" name="xr-control-index-3">
            <a:extLst xmlns:a="http://schemas.openxmlformats.org/drawingml/2006/main">
              <a:ext uri="{FF2B5EF4-FFF2-40B4-BE49-F238E27FC236}">
                <a16:creationId xmlns:a16="http://schemas.microsoft.com/office/drawing/2014/main" id="{7B065A7C-ADAB-402C-B890-545E1E2F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625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xr-control-index-text-3">
            <a:extLst xmlns:a="http://schemas.openxmlformats.org/drawingml/2006/main">
              <a:ext uri="{FF2B5EF4-FFF2-40B4-BE49-F238E27FC236}">
                <a16:creationId xmlns:a16="http://schemas.microsoft.com/office/drawing/2014/main" id="{76E20B3E-A826-4DAC-BDF7-A6899839F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0175"/>
            <a:ext cx="323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xr-control-title-3">
            <a:extLst xmlns:a="http://schemas.openxmlformats.org/drawingml/2006/main">
              <a:ext uri="{FF2B5EF4-FFF2-40B4-BE49-F238E27FC236}">
                <a16:creationId xmlns:a16="http://schemas.microsoft.com/office/drawing/2014/main" id="{4DE25A54-105F-4813-A6B2-F9D8C571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0"/>
            <a:ext cx="3733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8FAFC"/>
                </a:solidFill>
              </a:defRPr>
            </a:pPr>
            <a:r>
              <a:rPr sz="1500" b="1">
                <a:solidFill>
                  <a:srgbClr val="F8FAFC"/>
                </a:solidFill>
              </a:rPr>
              <a:t>Motion Mimic / Position Sync</a:t>
            </a:r>
          </a:p>
        </p:txBody>
      </p:sp>
      <p:sp>
        <p:nvSpPr>
          <p:cNvPr id="16" name="xr-control-body-3">
            <a:extLst xmlns:a="http://schemas.openxmlformats.org/drawingml/2006/main">
              <a:ext uri="{FF2B5EF4-FFF2-40B4-BE49-F238E27FC236}">
                <a16:creationId xmlns:a16="http://schemas.microsoft.com/office/drawing/2014/main" id="{8C344EE8-A8C2-44D9-919D-1BCE60C1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438775"/>
            <a:ext cx="3790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CBD5E1"/>
                </a:solidFill>
              </a:defRPr>
            </a:pPr>
            <a:r>
              <a:rPr sz="1200">
                <a:solidFill>
                  <a:srgbClr val="CBD5E1"/>
                </a:solidFill>
              </a:rPr>
              <a:t>Operatörün pozisyonu ve yönelimi robot hareketine eşlenir. Telepresence hissini güçlendirir.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e27fb6c1534558"/>
          <a:srcRect xmlns:a="http://schemas.openxmlformats.org/drawingml/2006/main" l="28" t="0" r="2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</p:spPr>
      </p:pic>
      <p:sp>
        <p:nvSpPr>
          <p:cNvPr id="18" name="xr-screenshot-outline">
            <a:extLst xmlns:a="http://schemas.openxmlformats.org/drawingml/2006/main">
              <a:ext uri="{FF2B5EF4-FFF2-40B4-BE49-F238E27FC236}">
                <a16:creationId xmlns:a16="http://schemas.microsoft.com/office/drawing/2014/main" id="{3C8544A3-93A0-4302-89A7-10442316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819150"/>
            <a:ext cx="6191250" cy="388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9" name="xr-caption">
            <a:extLst xmlns:a="http://schemas.openxmlformats.org/drawingml/2006/main">
              <a:ext uri="{FF2B5EF4-FFF2-40B4-BE49-F238E27FC236}">
                <a16:creationId xmlns:a16="http://schemas.microsoft.com/office/drawing/2014/main" id="{C4187414-2472-4272-9FF5-67A7DD0FE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4953000"/>
            <a:ext cx="6134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Görüntüde Vision Pro arayüzü robot sahnesinin üzerine bindirilmiş: üç kontrol modu aynı seçim ekranında karşılaştırılıyor.</a:t>
            </a:r>
          </a:p>
        </p:txBody>
      </p:sp>
      <p:sp>
        <p:nvSpPr>
          <p:cNvPr id="20" name="xr-bottom-band">
            <a:extLst xmlns:a="http://schemas.openxmlformats.org/drawingml/2006/main">
              <a:ext uri="{FF2B5EF4-FFF2-40B4-BE49-F238E27FC236}">
                <a16:creationId xmlns:a16="http://schemas.microsoft.com/office/drawing/2014/main" id="{57876312-5A30-4144-95D1-274E33D4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886450"/>
            <a:ext cx="619125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21923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1" name="xr-bottom-copy">
            <a:extLst xmlns:a="http://schemas.openxmlformats.org/drawingml/2006/main">
              <a:ext uri="{FF2B5EF4-FFF2-40B4-BE49-F238E27FC236}">
                <a16:creationId xmlns:a16="http://schemas.microsoft.com/office/drawing/2014/main" id="{16098D38-1D12-4BC2-AC87-69FD5C7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010275"/>
            <a:ext cx="5753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8FAFC"/>
                </a:solidFill>
              </a:defRPr>
            </a:pPr>
            <a:r>
              <a:rPr sz="1275" b="1">
                <a:solidFill>
                  <a:srgbClr val="F8FAFC"/>
                </a:solidFill>
              </a:rPr>
              <a:t>Yürütme katmanı tek bir kontrol biçimine kilitlenmez; görev, ortam ve operatör deneyimine göre mod seçilir.</a:t>
            </a:r>
          </a:p>
        </p:txBody>
      </p:sp>
    </p:spTree>
    <p:extLst>
      <p:ext uri="{BB962C8B-B14F-4D97-AF65-F5344CB8AC3E}">
        <p14:creationId xmlns:p14="http://schemas.microsoft.com/office/powerpoint/2010/main" val="100008220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2026-07-07T08:09:56.7410000Z</dcterms:created>
  <dcterms:modified xsi:type="dcterms:W3CDTF">2026-07-07T08:09:56.7420000Z</dcterms:modified>
</coreProperties>
</file>