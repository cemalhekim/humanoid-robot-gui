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86d4c175c5447c" /><Relationship Type="http://schemas.openxmlformats.org/officeDocument/2006/relationships/extended-properties" Target="/docProps/app.xml" Id="R29ee01823e2f4f7e" /><Relationship Type="http://schemas.openxmlformats.org/officeDocument/2006/relationships/officeDocument" Target="/ppt/presentation.xml" Id="R5b0857bd6c0c40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2834c0a897429f"/>
  </p:sldMasterIdLst>
  <p:notesMasterIdLst>
    <p:notesMasterId xmlns:r="http://schemas.openxmlformats.org/officeDocument/2006/relationships" r:id="R35954d57ec044653"/>
  </p:notesMasterIdLst>
  <p:sldIdLst>
    <p:sldId xmlns:r="http://schemas.openxmlformats.org/officeDocument/2006/relationships" id="256" r:id="R43f99809b85043b1"/>
    <p:sldId xmlns:r="http://schemas.openxmlformats.org/officeDocument/2006/relationships" id="257" r:id="R63d9557e32024a80"/>
    <p:sldId xmlns:r="http://schemas.openxmlformats.org/officeDocument/2006/relationships" id="258" r:id="R4b65a4fadf4940d1"/>
    <p:sldId xmlns:r="http://schemas.openxmlformats.org/officeDocument/2006/relationships" id="259" r:id="Rd9824f2f56d040a2"/>
    <p:sldId xmlns:r="http://schemas.openxmlformats.org/officeDocument/2006/relationships" id="260" r:id="R1f66acc3f48148a7"/>
    <p:sldId xmlns:r="http://schemas.openxmlformats.org/officeDocument/2006/relationships" id="261" r:id="Re7478522cd014b3a"/>
    <p:sldId xmlns:r="http://schemas.openxmlformats.org/officeDocument/2006/relationships" id="262" r:id="R1157df7de8d049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481b08a8de485d" /><Relationship Type="http://schemas.openxmlformats.org/officeDocument/2006/relationships/slideMaster" Target="/ppt/slideMasters/slideMaster1.xml" Id="Rd52834c0a897429f" /><Relationship Type="http://schemas.openxmlformats.org/officeDocument/2006/relationships/notesMaster" Target="/ppt/notesMasters/notesMaster1.xml" Id="R35954d57ec044653" /><Relationship Type="http://schemas.openxmlformats.org/officeDocument/2006/relationships/presProps" Target="/ppt/presProps.xml" Id="R863773be08ad46bd" /><Relationship Type="http://schemas.openxmlformats.org/officeDocument/2006/relationships/tableStyles" Target="/ppt/tableStyles.xml" Id="Rdee438af3e5e47d8" /><Relationship Type="http://schemas.openxmlformats.org/officeDocument/2006/relationships/slide" Target="/ppt/slides/slide1.xml" Id="R43f99809b85043b1" /><Relationship Type="http://schemas.openxmlformats.org/officeDocument/2006/relationships/slide" Target="/ppt/slides/slide2.xml" Id="R63d9557e32024a80" /><Relationship Type="http://schemas.openxmlformats.org/officeDocument/2006/relationships/slide" Target="/ppt/slides/slide3.xml" Id="R4b65a4fadf4940d1" /><Relationship Type="http://schemas.openxmlformats.org/officeDocument/2006/relationships/slide" Target="/ppt/slides/slide4.xml" Id="Rd9824f2f56d040a2" /><Relationship Type="http://schemas.openxmlformats.org/officeDocument/2006/relationships/slide" Target="/ppt/slides/slide5.xml" Id="R1f66acc3f48148a7" /><Relationship Type="http://schemas.openxmlformats.org/officeDocument/2006/relationships/slide" Target="/ppt/slides/slide6.xml" Id="Re7478522cd014b3a" /><Relationship Type="http://schemas.openxmlformats.org/officeDocument/2006/relationships/slide" Target="/ppt/slides/slide7.xml" Id="R1157df7de8d049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52b0d6babd4e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40c742d17941a3" /><Relationship Type="http://schemas.openxmlformats.org/officeDocument/2006/relationships/notesMaster" Target="/ppt/notesMasters/notesMaster1.xml" Id="R39fc05ba9b1d40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3def97f95b44ad" /><Relationship Type="http://schemas.openxmlformats.org/officeDocument/2006/relationships/notesMaster" Target="/ppt/notesMasters/notesMaster1.xml" Id="R62ddfce3b2aa40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19250e98a8481a" /><Relationship Type="http://schemas.openxmlformats.org/officeDocument/2006/relationships/notesMaster" Target="/ppt/notesMasters/notesMaster1.xml" Id="R3376dd59f77440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9c8fcbdec94874" /><Relationship Type="http://schemas.openxmlformats.org/officeDocument/2006/relationships/notesMaster" Target="/ppt/notesMasters/notesMaster1.xml" Id="R9f56a38b63c143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12a8414deb41ff" /><Relationship Type="http://schemas.openxmlformats.org/officeDocument/2006/relationships/notesMaster" Target="/ppt/notesMasters/notesMaster1.xml" Id="R111b31f183294c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d2ab8c430e4b92" /><Relationship Type="http://schemas.openxmlformats.org/officeDocument/2006/relationships/notesMaster" Target="/ppt/notesMasters/notesMaster1.xml" Id="R1e544429ee7b4f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35bf9e023d4932" /><Relationship Type="http://schemas.openxmlformats.org/officeDocument/2006/relationships/notesMaster" Target="/ppt/notesMasters/notesMaster1.xml" Id="Rf2ce74cf8b9447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d3373c413242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16305ece494b21" /><Relationship Type="http://schemas.openxmlformats.org/officeDocument/2006/relationships/slideLayout" Target="/ppt/slideLayouts/slideLayout1.xml" Id="R30a9627f31e347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a9627f31e347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81d1eb65c44d8" /><Relationship Type="http://schemas.openxmlformats.org/officeDocument/2006/relationships/image" Target="/ppt/media/image.png" Id="R451fee041b934acb" /><Relationship Type="http://schemas.openxmlformats.org/officeDocument/2006/relationships/notesSlide" Target="/ppt/notesSlides/notesSlide1.xml" Id="R722d6420a83e41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d8808250b4ba4" /><Relationship Type="http://schemas.openxmlformats.org/officeDocument/2006/relationships/image" Target="/ppt/media/image2.png" Id="R47415d6e1adc46c0" /><Relationship Type="http://schemas.openxmlformats.org/officeDocument/2006/relationships/image" Target="/ppt/media/image3.png" Id="R7be6f6dc22324c79" /><Relationship Type="http://schemas.openxmlformats.org/officeDocument/2006/relationships/image" Target="/ppt/media/image4.png" Id="R031300d2d2e94e30" /><Relationship Type="http://schemas.openxmlformats.org/officeDocument/2006/relationships/notesSlide" Target="/ppt/notesSlides/notesSlide2.xml" Id="Rbdf64171133647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e5bade7f14e95" /><Relationship Type="http://schemas.openxmlformats.org/officeDocument/2006/relationships/image" Target="/ppt/media/image5.png" Id="Rafdd3da0a7544309" /><Relationship Type="http://schemas.openxmlformats.org/officeDocument/2006/relationships/notesSlide" Target="/ppt/notesSlides/notesSlide3.xml" Id="R71daa504ef184d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d23f7d1a24506" /><Relationship Type="http://schemas.openxmlformats.org/officeDocument/2006/relationships/image" Target="/ppt/media/image6.png" Id="R71ba9ca9ea374fc5" /><Relationship Type="http://schemas.openxmlformats.org/officeDocument/2006/relationships/image" Target="/ppt/media/image7.png" Id="R0858e9d2f8db4ee3" /><Relationship Type="http://schemas.openxmlformats.org/officeDocument/2006/relationships/image" Target="/ppt/media/image8.png" Id="R4949040a535440fd" /><Relationship Type="http://schemas.openxmlformats.org/officeDocument/2006/relationships/notesSlide" Target="/ppt/notesSlides/notesSlide4.xml" Id="R66ffb27e5e184f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b6e73b3644cab" /><Relationship Type="http://schemas.openxmlformats.org/officeDocument/2006/relationships/image" Target="/ppt/media/image.jpeg" Id="Rffa330312e9b4e14" /><Relationship Type="http://schemas.openxmlformats.org/officeDocument/2006/relationships/notesSlide" Target="/ppt/notesSlides/notesSlide5.xml" Id="Rf46d45f25d654c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9fc11e14d433d" /><Relationship Type="http://schemas.openxmlformats.org/officeDocument/2006/relationships/image" Target="/ppt/media/image2.jpeg" Id="R522a2e3186cb45d7" /><Relationship Type="http://schemas.openxmlformats.org/officeDocument/2006/relationships/notesSlide" Target="/ppt/notesSlides/notesSlide6.xml" Id="R28c2ede404f64d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b3a63b9a34c54" /><Relationship Type="http://schemas.openxmlformats.org/officeDocument/2006/relationships/notesSlide" Target="/ppt/notesSlides/notesSlide7.xml" Id="R65297000d9d644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F7A2D1-144D-4C72-8EF7-440FD849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ANA EKRAN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E9EAE-E09B-410F-92E0-B7BD5C30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23900"/>
            <a:ext cx="723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70707"/>
                </a:solidFill>
              </a:defRPr>
            </a:pPr>
            <a:r>
              <a:rPr sz="3000" b="1">
                <a:solidFill>
                  <a:srgbClr val="070707"/>
                </a:solidFill>
              </a:rPr>
              <a:t>Robotun bütün hikayesi tek cockpit içinde.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14283-5AB7-4449-B66E-70516803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0975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Solda AI Chatbot, ortada canlı bilgi akışı, sağda Robot Twin. Tek bakışta kontrol hissi.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1fee041b934acb"/>
          <a:srcRect xmlns:a="http://schemas.openxmlformats.org/drawingml/2006/main" l="0" t="30309" r="0" b="30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2495550"/>
            <a:ext cx="11353800" cy="3105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46ADD-7EAC-46E4-8F34-98F16ED9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436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2FF94-086B-4A12-ADD8-538354CA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60000"/>
                </a:solidFill>
              </a:defRPr>
            </a:pPr>
            <a:r>
              <a:rPr sz="1275" b="1">
                <a:solidFill>
                  <a:srgbClr val="E60000"/>
                </a:solidFill>
              </a:rPr>
              <a:t>SOL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5FEEB-D1FC-44CB-9B1D-DB662F84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1341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0707"/>
                </a:solidFill>
              </a:defRPr>
            </a:pPr>
            <a:r>
              <a:rPr sz="1800" b="1">
                <a:solidFill>
                  <a:srgbClr val="070707"/>
                </a:solidFill>
              </a:rPr>
              <a:t>AI Chatbot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38E02-F313-4204-B463-19B43645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912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60000"/>
                </a:solidFill>
              </a:defRPr>
            </a:pPr>
            <a:r>
              <a:rPr sz="1275" b="1">
                <a:solidFill>
                  <a:srgbClr val="E60000"/>
                </a:solidFill>
              </a:rPr>
              <a:t>ORTA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C28C3-8A19-4898-A224-88195F97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134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0707"/>
                </a:solidFill>
              </a:defRPr>
            </a:pPr>
            <a:r>
              <a:rPr sz="1800" b="1">
                <a:solidFill>
                  <a:srgbClr val="070707"/>
                </a:solidFill>
              </a:rPr>
              <a:t>Bilgi Akışı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76B340-E5ED-4627-B36B-6DCEC132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6191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60000"/>
                </a:solidFill>
              </a:defRPr>
            </a:pPr>
            <a:r>
              <a:rPr sz="1275" b="1">
                <a:solidFill>
                  <a:srgbClr val="E60000"/>
                </a:solidFill>
              </a:rPr>
              <a:t>SAG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A2FD2-7A5B-40BF-AC20-963573BF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1341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0707"/>
                </a:solidFill>
              </a:defRPr>
            </a:pPr>
            <a:r>
              <a:rPr sz="1800" b="1">
                <a:solidFill>
                  <a:srgbClr val="070707"/>
                </a:solidFill>
              </a:rPr>
              <a:t>Robot Twin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CBAA1-9A23-4559-90FD-2A02009D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34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60000"/>
                </a:solidFill>
              </a:defRPr>
            </a:pPr>
            <a:r>
              <a:rPr sz="1800" b="1">
                <a:solidFill>
                  <a:srgbClr val="E60000"/>
                </a:solidFill>
              </a:rPr>
              <a:t>Premium control layer</a:t>
            </a:r>
          </a:p>
        </p:txBody>
      </p:sp>
    </p:spTree>
    <p:extLst>
      <p:ext uri="{BB962C8B-B14F-4D97-AF65-F5344CB8AC3E}">
        <p14:creationId xmlns:p14="http://schemas.microsoft.com/office/powerpoint/2010/main" val="9499069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391501-F59A-4B77-896A-597E6C90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ROBOT TELEMETRI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E3168-44F3-49F2-B2D9-5CB7D12E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23900"/>
            <a:ext cx="819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75" b="1">
                <a:solidFill>
                  <a:srgbClr val="070707"/>
                </a:solidFill>
              </a:defRPr>
            </a:pPr>
            <a:r>
              <a:rPr sz="3075" b="1">
                <a:solidFill>
                  <a:srgbClr val="070707"/>
                </a:solidFill>
              </a:rPr>
              <a:t>Uc farkli telemetry hissi ayni deneyime akar.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2559D-A593-4B14-9757-06DC1A15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0975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Dashboard telemetry, camera stream ve Apple Vision Pro ile robotun sahnesi her yerden okunur.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15d6e1adc46c0"/>
          <a:srcRect xmlns:a="http://schemas.openxmlformats.org/drawingml/2006/main" l="0" t="6000" r="0" b="6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2571750"/>
            <a:ext cx="3429000" cy="20955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6f6dc22324c79"/>
          <a:srcRect xmlns:a="http://schemas.openxmlformats.org/drawingml/2006/main" l="0" t="6000" r="0" b="6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0" y="2571750"/>
            <a:ext cx="3429000" cy="20955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300d2d2e94e30"/>
          <a:srcRect xmlns:a="http://schemas.openxmlformats.org/drawingml/2006/main" l="0" t="6000" r="0" b="6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3900" y="2571750"/>
            <a:ext cx="3429000" cy="2095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87206-3F73-43B7-91C7-BAA0BCE3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9EDD2-F6A7-4DCD-9453-BD8D3C7E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91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0707"/>
                </a:solidFill>
              </a:defRPr>
            </a:pPr>
            <a:r>
              <a:rPr sz="1800" b="1">
                <a:solidFill>
                  <a:srgbClr val="070707"/>
                </a:solidFill>
              </a:rPr>
              <a:t>1. Live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4DB14-D666-4BB4-9E6C-B0A7EFC0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911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0707"/>
                </a:solidFill>
              </a:defRPr>
            </a:pPr>
            <a:r>
              <a:rPr sz="1800" b="1">
                <a:solidFill>
                  <a:srgbClr val="070707"/>
                </a:solidFill>
              </a:rPr>
              <a:t>2. Camera Stream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C3BDC-BC9E-4535-B5A2-2032A05C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911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60000"/>
                </a:solidFill>
              </a:defRPr>
            </a:pPr>
            <a:r>
              <a:rPr sz="1800" b="1">
                <a:solidFill>
                  <a:srgbClr val="E60000"/>
                </a:solidFill>
              </a:rPr>
              <a:t>3. Apple Vision Pro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0630EB-4448-4F88-8542-00BA4D8E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769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Real-time awareness / XR presence / Operator confidence</a:t>
            </a:r>
          </a:p>
        </p:txBody>
      </p:sp>
    </p:spTree>
    <p:extLst>
      <p:ext uri="{BB962C8B-B14F-4D97-AF65-F5344CB8AC3E}">
        <p14:creationId xmlns:p14="http://schemas.microsoft.com/office/powerpoint/2010/main" val="5247616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d3da0a7544309"/>
          <a:srcRect xmlns:a="http://schemas.openxmlformats.org/drawingml/2006/main" l="18895" t="0" r="188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436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E6AED-FC7B-499D-AEF4-C828A2EE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0"/>
            <a:ext cx="6048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42EDA-D3A7-4652-A87C-406291FD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43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MOTION SEQUENCE PLANNING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CD265-0705-4970-9E51-8691E25A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952500"/>
            <a:ext cx="4629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70707"/>
                </a:solidFill>
              </a:defRPr>
            </a:pPr>
            <a:r>
              <a:rPr sz="3150" b="1">
                <a:solidFill>
                  <a:srgbClr val="070707"/>
                </a:solidFill>
              </a:rPr>
              <a:t>Hareket artik bir sequence haline geliyor.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9C5E7-ED72-4920-9BF8-2D096BF2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24150"/>
            <a:ext cx="4457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555555"/>
                </a:solidFill>
              </a:defRPr>
            </a:pPr>
            <a:r>
              <a:rPr sz="1725">
                <a:solidFill>
                  <a:srgbClr val="555555"/>
                </a:solidFill>
              </a:rPr>
              <a:t>Pose point kaydet, sequence kur, trajectory preview izle. Robot hareketi demo diline donusur.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968E8-43A1-463A-AF5C-DB49A522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38550"/>
            <a:ext cx="411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solidFill>
              <a:srgbClr val="E6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18113-6B5A-4B47-94AE-68E4A006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81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0707"/>
                </a:solidFill>
              </a:defRPr>
            </a:pPr>
            <a:r>
              <a:rPr sz="1800" b="1">
                <a:solidFill>
                  <a:srgbClr val="070707"/>
                </a:solidFill>
              </a:rPr>
              <a:t>Add 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951D8-2870-43F2-A0E0-EF591516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62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0707"/>
                </a:solidFill>
              </a:defRPr>
            </a:pPr>
            <a:r>
              <a:rPr sz="1800" b="1">
                <a:solidFill>
                  <a:srgbClr val="070707"/>
                </a:solidFill>
              </a:rPr>
              <a:t>Pose 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D0AFF-419D-4B44-8ADB-61ADA585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60000"/>
                </a:solidFill>
              </a:defRPr>
            </a:pPr>
            <a:r>
              <a:rPr sz="1800" b="1">
                <a:solidFill>
                  <a:srgbClr val="E60000"/>
                </a:solidFill>
              </a:rPr>
              <a:t>Sequence Builder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372EA-DA9E-44AD-8AA1-C3D897C2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24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0707"/>
                </a:solidFill>
              </a:defRPr>
            </a:pPr>
            <a:r>
              <a:rPr sz="1800" b="1">
                <a:solidFill>
                  <a:srgbClr val="070707"/>
                </a:solidFill>
              </a:rPr>
              <a:t>Trajectory Planning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780E9-59D1-464C-807F-F724C90B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05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60000"/>
                </a:solidFill>
              </a:defRPr>
            </a:pPr>
            <a:r>
              <a:rPr sz="1800" b="1">
                <a:solidFill>
                  <a:srgbClr val="E60000"/>
                </a:solidFill>
              </a:rPr>
              <a:t>Crazy Seconds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9B32B-3B39-47E1-9089-B395C63B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9436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Repeatable motion / stage-ready timing / replayable moments</a:t>
            </a:r>
          </a:p>
        </p:txBody>
      </p:sp>
    </p:spTree>
    <p:extLst>
      <p:ext uri="{BB962C8B-B14F-4D97-AF65-F5344CB8AC3E}">
        <p14:creationId xmlns:p14="http://schemas.microsoft.com/office/powerpoint/2010/main" val="247829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A2AB7E-4838-4FE4-BF7A-E5097EA7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DEMO VE OPERASYON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EB975-0AF5-4386-979D-9E32E3F4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23900"/>
            <a:ext cx="838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070707"/>
                </a:solidFill>
              </a:defRPr>
            </a:pPr>
            <a:r>
              <a:rPr sz="3225" b="1">
                <a:solidFill>
                  <a:srgbClr val="070707"/>
                </a:solidFill>
              </a:rPr>
              <a:t>Pilot, demo ve remote presence icin hazir bir robot platformu.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a9ca9ea374fc5"/>
          <a:srcRect xmlns:a="http://schemas.openxmlformats.org/drawingml/2006/main" l="0" t="2134" r="0" b="21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2266950"/>
            <a:ext cx="3409950" cy="22669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8e9d2f8db4ee3"/>
          <a:srcRect xmlns:a="http://schemas.openxmlformats.org/drawingml/2006/main" l="0" t="2134" r="0" b="21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0550" y="2266950"/>
            <a:ext cx="3409950" cy="226695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9040a535440fd"/>
          <a:srcRect xmlns:a="http://schemas.openxmlformats.org/drawingml/2006/main" l="0" t="2134" r="0" b="21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2266950"/>
            <a:ext cx="3409950" cy="2266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55C71-8B62-458E-ADDB-118DB530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60A04-2F96-4730-9E6F-04646C56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14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0707"/>
                </a:solidFill>
              </a:defRPr>
            </a:pPr>
            <a:r>
              <a:rPr sz="1800" b="1">
                <a:solidFill>
                  <a:srgbClr val="070707"/>
                </a:solidFill>
              </a:rPr>
              <a:t>Locomotion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6E640-C385-460D-8533-B8CC42FD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31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0707"/>
                </a:solidFill>
              </a:defRPr>
            </a:pPr>
            <a:r>
              <a:rPr sz="1800" b="1">
                <a:solidFill>
                  <a:srgbClr val="070707"/>
                </a:solidFill>
              </a:rPr>
              <a:t>Gesture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5E5330-8ECE-4906-B351-909D631B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1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70707"/>
                </a:solidFill>
              </a:defRPr>
            </a:pPr>
            <a:r>
              <a:rPr sz="1800" b="1">
                <a:solidFill>
                  <a:srgbClr val="070707"/>
                </a:solidFill>
              </a:rPr>
              <a:t>ROS Visibility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712AF-C995-4CA5-9F9D-7F68B509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314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60000"/>
                </a:solidFill>
              </a:defRPr>
            </a:pPr>
            <a:r>
              <a:rPr sz="1800" b="1">
                <a:solidFill>
                  <a:srgbClr val="E60000"/>
                </a:solidFill>
              </a:rPr>
              <a:t>Remote Presence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E3223-7490-4358-9575-AEE96F51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769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70707"/>
                </a:solidFill>
              </a:defRPr>
            </a:pPr>
            <a:r>
              <a:rPr sz="1875" b="1">
                <a:solidFill>
                  <a:srgbClr val="070707"/>
                </a:solidFill>
              </a:rPr>
              <a:t>Premium robotics experience. Fast demo loop. Clear operator story.</a:t>
            </a:r>
          </a:p>
        </p:txBody>
      </p:sp>
    </p:spTree>
    <p:extLst>
      <p:ext uri="{BB962C8B-B14F-4D97-AF65-F5344CB8AC3E}">
        <p14:creationId xmlns:p14="http://schemas.microsoft.com/office/powerpoint/2010/main" val="8648576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B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lemetry-left-panel-soft-fill">
            <a:extLst xmlns:a="http://schemas.openxmlformats.org/drawingml/2006/main">
              <a:ext uri="{FF2B5EF4-FFF2-40B4-BE49-F238E27FC236}">
                <a16:creationId xmlns:a16="http://schemas.microsoft.com/office/drawing/2014/main" id="{CBC62815-18EF-469D-8AF6-046FC619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lemetry-eyebrow">
            <a:extLst xmlns:a="http://schemas.openxmlformats.org/drawingml/2006/main">
              <a:ext uri="{FF2B5EF4-FFF2-40B4-BE49-F238E27FC236}">
                <a16:creationId xmlns:a16="http://schemas.microsoft.com/office/drawing/2014/main" id="{E0530488-1AE3-44F2-92D7-4DFACCCD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2C55E"/>
                </a:solidFill>
              </a:defRPr>
            </a:pPr>
            <a:r>
              <a:rPr sz="1050" b="1">
                <a:solidFill>
                  <a:srgbClr val="22C55E"/>
                </a:solidFill>
              </a:rPr>
              <a:t>ROBOT TELEMETRY WORKFLOW</a:t>
            </a:r>
          </a:p>
        </p:txBody>
      </p:sp>
      <p:sp>
        <p:nvSpPr>
          <p:cNvPr id="3" name="telemetry-title">
            <a:extLst xmlns:a="http://schemas.openxmlformats.org/drawingml/2006/main">
              <a:ext uri="{FF2B5EF4-FFF2-40B4-BE49-F238E27FC236}">
                <a16:creationId xmlns:a16="http://schemas.microsoft.com/office/drawing/2014/main" id="{15A7CE41-3219-40BB-AE6C-BDEE049C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4457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Telemetry Recorder</a:t>
            </a:r>
          </a:p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hareketi doğruluyor</a:t>
            </a:r>
          </a:p>
        </p:txBody>
      </p:sp>
      <p:sp>
        <p:nvSpPr>
          <p:cNvPr id="4" name="telemetry-subtitle">
            <a:extLst xmlns:a="http://schemas.openxmlformats.org/drawingml/2006/main">
              <a:ext uri="{FF2B5EF4-FFF2-40B4-BE49-F238E27FC236}">
                <a16:creationId xmlns:a16="http://schemas.microsoft.com/office/drawing/2014/main" id="{E45BB33F-575A-492B-9A5A-956A57CF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4343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CBD5E1"/>
                </a:solidFill>
              </a:defRPr>
            </a:pPr>
            <a:r>
              <a:rPr sz="1350">
                <a:solidFill>
                  <a:srgbClr val="CBD5E1"/>
                </a:solidFill>
              </a:rPr>
              <a:t>Ekran; motor örneklerinden sequence oluşturma, simülasyonla kontrol etme ve güvenli hareketi gerçek robota kaydetme akışını tek yerde topluyor.</a:t>
            </a:r>
          </a:p>
        </p:txBody>
      </p:sp>
      <p:sp>
        <p:nvSpPr>
          <p:cNvPr id="5" name="telemetry-feature-accent-0">
            <a:extLst xmlns:a="http://schemas.openxmlformats.org/drawingml/2006/main">
              <a:ext uri="{FF2B5EF4-FFF2-40B4-BE49-F238E27FC236}">
                <a16:creationId xmlns:a16="http://schemas.microsoft.com/office/drawing/2014/main" id="{8FC66A6B-49E4-41DE-87C3-C8CF7543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lemetry-feature-title-0">
            <a:extLst xmlns:a="http://schemas.openxmlformats.org/drawingml/2006/main">
              <a:ext uri="{FF2B5EF4-FFF2-40B4-BE49-F238E27FC236}">
                <a16:creationId xmlns:a16="http://schemas.microsoft.com/office/drawing/2014/main" id="{8E20D219-CA99-478A-8D9D-DC5DD87E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421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Sıralı hareket noktaları</a:t>
            </a:r>
          </a:p>
        </p:txBody>
      </p:sp>
      <p:sp>
        <p:nvSpPr>
          <p:cNvPr id="7" name="telemetry-feature-body-0">
            <a:extLst xmlns:a="http://schemas.openxmlformats.org/drawingml/2006/main">
              <a:ext uri="{FF2B5EF4-FFF2-40B4-BE49-F238E27FC236}">
                <a16:creationId xmlns:a16="http://schemas.microsoft.com/office/drawing/2014/main" id="{6B6E15C2-3727-42DB-BEE8-A0ABEEDB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Her point; 27 motor, zaman damgası ve replay sırası ile tutuluyor. Seçili point anında izlenebiliyor.</a:t>
            </a:r>
          </a:p>
        </p:txBody>
      </p:sp>
      <p:sp>
        <p:nvSpPr>
          <p:cNvPr id="8" name="telemetry-feature-accent-1">
            <a:extLst xmlns:a="http://schemas.openxmlformats.org/drawingml/2006/main">
              <a:ext uri="{FF2B5EF4-FFF2-40B4-BE49-F238E27FC236}">
                <a16:creationId xmlns:a16="http://schemas.microsoft.com/office/drawing/2014/main" id="{DAB6BB22-EF92-47F1-BD41-BD907E6D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lemetry-feature-title-1">
            <a:extLst xmlns:a="http://schemas.openxmlformats.org/drawingml/2006/main">
              <a:ext uri="{FF2B5EF4-FFF2-40B4-BE49-F238E27FC236}">
                <a16:creationId xmlns:a16="http://schemas.microsoft.com/office/drawing/2014/main" id="{AC806578-7BBB-4540-9C57-85E01AF6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21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IK ve sınır doğrulaması</a:t>
            </a:r>
          </a:p>
        </p:txBody>
      </p:sp>
      <p:sp>
        <p:nvSpPr>
          <p:cNvPr id="10" name="telemetry-feature-body-1">
            <a:extLst xmlns:a="http://schemas.openxmlformats.org/drawingml/2006/main">
              <a:ext uri="{FF2B5EF4-FFF2-40B4-BE49-F238E27FC236}">
                <a16:creationId xmlns:a16="http://schemas.microsoft.com/office/drawing/2014/main" id="{371BEEDB-9C55-457B-9D96-5B8730FA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IK hatası cm seviyesinde gösteriliyor; bounds açıkken güvenli eklem limitleri korunuyor.</a:t>
            </a:r>
          </a:p>
        </p:txBody>
      </p:sp>
      <p:sp>
        <p:nvSpPr>
          <p:cNvPr id="11" name="telemetry-feature-accent-2">
            <a:extLst xmlns:a="http://schemas.openxmlformats.org/drawingml/2006/main">
              <a:ext uri="{FF2B5EF4-FFF2-40B4-BE49-F238E27FC236}">
                <a16:creationId xmlns:a16="http://schemas.microsoft.com/office/drawing/2014/main" id="{6503815F-41CD-47FB-B482-0A8376C0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lemetry-feature-title-2">
            <a:extLst xmlns:a="http://schemas.openxmlformats.org/drawingml/2006/main">
              <a:ext uri="{FF2B5EF4-FFF2-40B4-BE49-F238E27FC236}">
                <a16:creationId xmlns:a16="http://schemas.microsoft.com/office/drawing/2014/main" id="{E1869618-7C79-449C-9698-2E8A8D2D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421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Simülasyon ve replay karşılaştırması</a:t>
            </a:r>
          </a:p>
        </p:txBody>
      </p:sp>
      <p:sp>
        <p:nvSpPr>
          <p:cNvPr id="13" name="telemetry-feature-body-2">
            <a:extLst xmlns:a="http://schemas.openxmlformats.org/drawingml/2006/main">
              <a:ext uri="{FF2B5EF4-FFF2-40B4-BE49-F238E27FC236}">
                <a16:creationId xmlns:a16="http://schemas.microsoft.com/office/drawing/2014/main" id="{FF9752D7-79E3-4A21-A31F-FAC4A3CF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Mavi referans, yeşil simülasyon ve kırmızı hedef hareket aynı sahnede üst üste okunuyor.</a:t>
            </a:r>
          </a:p>
        </p:txBody>
      </p:sp>
      <p:sp>
        <p:nvSpPr>
          <p:cNvPr id="14" name="telemetry-feature-accent-3">
            <a:extLst xmlns:a="http://schemas.openxmlformats.org/drawingml/2006/main">
              <a:ext uri="{FF2B5EF4-FFF2-40B4-BE49-F238E27FC236}">
                <a16:creationId xmlns:a16="http://schemas.microsoft.com/office/drawing/2014/main" id="{EB0989C0-18AE-4350-9C5B-3A02C6FB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lemetry-feature-title-3">
            <a:extLst xmlns:a="http://schemas.openxmlformats.org/drawingml/2006/main">
              <a:ext uri="{FF2B5EF4-FFF2-40B4-BE49-F238E27FC236}">
                <a16:creationId xmlns:a16="http://schemas.microsoft.com/office/drawing/2014/main" id="{B9FE1970-A69E-4F01-B94D-A2E73091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421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Gerçek robota aktarım kapısı</a:t>
            </a:r>
          </a:p>
        </p:txBody>
      </p:sp>
      <p:sp>
        <p:nvSpPr>
          <p:cNvPr id="16" name="telemetry-feature-body-3">
            <a:extLst xmlns:a="http://schemas.openxmlformats.org/drawingml/2006/main">
              <a:ext uri="{FF2B5EF4-FFF2-40B4-BE49-F238E27FC236}">
                <a16:creationId xmlns:a16="http://schemas.microsoft.com/office/drawing/2014/main" id="{367EAC65-924B-4414-A99D-5659B5C4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Add Point, Simulate Trajectory, Move Arms ve Save Real Robot Motion adımları aynı operatör akışında.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330312e9b4e14"/>
          <a:stretch xmlns:a="http://schemas.openxmlformats.org/drawingml/2006/main"/>
        </p:blipFill>
        <p:spPr>
          <a:xfrm xmlns:a="http://schemas.openxmlformats.org/drawingml/2006/main">
            <a:off x="5623031" y="685800"/>
            <a:ext cx="6089438" cy="4419600"/>
          </a:xfrm>
          <a:prstGeom xmlns:a="http://schemas.openxmlformats.org/drawingml/2006/main" prst="rect">
            <a:avLst/>
          </a:prstGeom>
        </p:spPr>
      </p:pic>
      <p:sp>
        <p:nvSpPr>
          <p:cNvPr id="18" name="telemetry-screenshot-outline">
            <a:extLst xmlns:a="http://schemas.openxmlformats.org/drawingml/2006/main">
              <a:ext uri="{FF2B5EF4-FFF2-40B4-BE49-F238E27FC236}">
                <a16:creationId xmlns:a16="http://schemas.microsoft.com/office/drawing/2014/main" id="{082F7060-BDE9-409D-9804-92E493DC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85800"/>
            <a:ext cx="6096000" cy="441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telemetry-screenshot-caption">
            <a:extLst xmlns:a="http://schemas.openxmlformats.org/drawingml/2006/main">
              <a:ext uri="{FF2B5EF4-FFF2-40B4-BE49-F238E27FC236}">
                <a16:creationId xmlns:a16="http://schemas.microsoft.com/office/drawing/2014/main" id="{94A23EB0-00F6-4EF4-866E-D7181C9A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86375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E2E8F0"/>
                </a:solidFill>
              </a:defRPr>
            </a:pPr>
            <a:r>
              <a:rPr sz="1275">
                <a:solidFill>
                  <a:srgbClr val="E2E8F0"/>
                </a:solidFill>
              </a:rPr>
              <a:t>Canlı operatör görünümü: solda sequence listesi, ortada 3D robot replay, üstte güvenlik ve kayıt aksiyonları.</a:t>
            </a:r>
          </a:p>
        </p:txBody>
      </p:sp>
      <p:sp>
        <p:nvSpPr>
          <p:cNvPr id="20" name="telemetry-bottom-safety-band">
            <a:extLst xmlns:a="http://schemas.openxmlformats.org/drawingml/2006/main">
              <a:ext uri="{FF2B5EF4-FFF2-40B4-BE49-F238E27FC236}">
                <a16:creationId xmlns:a16="http://schemas.microsoft.com/office/drawing/2014/main" id="{2D0F7468-B38C-4A85-8788-F1422690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000750"/>
            <a:ext cx="609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1923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1" name="telemetry-bottom-safety-copy">
            <a:extLst xmlns:a="http://schemas.openxmlformats.org/drawingml/2006/main">
              <a:ext uri="{FF2B5EF4-FFF2-40B4-BE49-F238E27FC236}">
                <a16:creationId xmlns:a16="http://schemas.microsoft.com/office/drawing/2014/main" id="{C181BE3B-C677-4693-B18D-7B6FF35B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05525"/>
            <a:ext cx="567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Amaç: hareket komutu gerçek robota gitmeden önce kayıt, görünürlük ve simülasyon doğrulaması tamamlanır.</a:t>
            </a:r>
          </a:p>
        </p:txBody>
      </p:sp>
    </p:spTree>
    <p:extLst>
      <p:ext uri="{BB962C8B-B14F-4D97-AF65-F5344CB8AC3E}">
        <p14:creationId xmlns:p14="http://schemas.microsoft.com/office/powerpoint/2010/main" val="19176627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B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xr-left-panel">
            <a:extLst xmlns:a="http://schemas.openxmlformats.org/drawingml/2006/main">
              <a:ext uri="{FF2B5EF4-FFF2-40B4-BE49-F238E27FC236}">
                <a16:creationId xmlns:a16="http://schemas.microsoft.com/office/drawing/2014/main" id="{C340BB2D-AFBE-436C-B2BC-D8A68FF3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19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xr-eyebrow">
            <a:extLst xmlns:a="http://schemas.openxmlformats.org/drawingml/2006/main">
              <a:ext uri="{FF2B5EF4-FFF2-40B4-BE49-F238E27FC236}">
                <a16:creationId xmlns:a16="http://schemas.microsoft.com/office/drawing/2014/main" id="{D9995331-F557-41F7-9910-491418D7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8BDF8"/>
                </a:solidFill>
              </a:defRPr>
            </a:pPr>
            <a:r>
              <a:rPr sz="1050" b="1">
                <a:solidFill>
                  <a:srgbClr val="38BDF8"/>
                </a:solidFill>
              </a:rPr>
              <a:t>XR WALKING CONTROL</a:t>
            </a:r>
          </a:p>
        </p:txBody>
      </p:sp>
      <p:sp>
        <p:nvSpPr>
          <p:cNvPr id="3" name="xr-title">
            <a:extLst xmlns:a="http://schemas.openxmlformats.org/drawingml/2006/main">
              <a:ext uri="{FF2B5EF4-FFF2-40B4-BE49-F238E27FC236}">
                <a16:creationId xmlns:a16="http://schemas.microsoft.com/office/drawing/2014/main" id="{9ABBD2E8-B1C0-4DF6-9259-E5CD9438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Robotu yürütmenin</a:t>
            </a:r>
          </a:p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üç yolu</a:t>
            </a:r>
          </a:p>
        </p:txBody>
      </p:sp>
      <p:sp>
        <p:nvSpPr>
          <p:cNvPr id="4" name="xr-subtitle">
            <a:extLst xmlns:a="http://schemas.openxmlformats.org/drawingml/2006/main">
              <a:ext uri="{FF2B5EF4-FFF2-40B4-BE49-F238E27FC236}">
                <a16:creationId xmlns:a16="http://schemas.microsoft.com/office/drawing/2014/main" id="{F69F51C3-D3BE-4412-B29D-510531BF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057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CBD5E1"/>
                </a:solidFill>
              </a:defRPr>
            </a:pPr>
            <a:r>
              <a:rPr sz="1350">
                <a:solidFill>
                  <a:srgbClr val="CBD5E1"/>
                </a:solidFill>
              </a:rPr>
              <a:t>Operatör; hassas manuel komut, baş yönüyle sezgisel sürüş veya pozisyon eşleme arasında geçiş yapabiliyor.</a:t>
            </a:r>
          </a:p>
        </p:txBody>
      </p:sp>
      <p:sp>
        <p:nvSpPr>
          <p:cNvPr id="5" name="xr-control-index-1">
            <a:extLst xmlns:a="http://schemas.openxmlformats.org/drawingml/2006/main">
              <a:ext uri="{FF2B5EF4-FFF2-40B4-BE49-F238E27FC236}">
                <a16:creationId xmlns:a16="http://schemas.microsoft.com/office/drawing/2014/main" id="{AAFDF8A3-9BC0-4402-A2E7-D39A8FAB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xr-control-index-text-1">
            <a:extLst xmlns:a="http://schemas.openxmlformats.org/drawingml/2006/main">
              <a:ext uri="{FF2B5EF4-FFF2-40B4-BE49-F238E27FC236}">
                <a16:creationId xmlns:a16="http://schemas.microsoft.com/office/drawing/2014/main" id="{9D352A34-8BBB-43F2-A3E4-917DB779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xr-control-title-1">
            <a:extLst xmlns:a="http://schemas.openxmlformats.org/drawingml/2006/main">
              <a:ext uri="{FF2B5EF4-FFF2-40B4-BE49-F238E27FC236}">
                <a16:creationId xmlns:a16="http://schemas.microsoft.com/office/drawing/2014/main" id="{DCAD1547-2520-4F8C-AAEE-A66EC294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3733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Floating VR Control Pad</a:t>
            </a:r>
          </a:p>
        </p:txBody>
      </p:sp>
      <p:sp>
        <p:nvSpPr>
          <p:cNvPr id="8" name="xr-control-body-1">
            <a:extLst xmlns:a="http://schemas.openxmlformats.org/drawingml/2006/main">
              <a:ext uri="{FF2B5EF4-FFF2-40B4-BE49-F238E27FC236}">
                <a16:creationId xmlns:a16="http://schemas.microsoft.com/office/drawing/2014/main" id="{DFB78ADE-ABED-47ED-9A14-96C1E42A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67075"/>
            <a:ext cx="3790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Sanal joystick/pad ile hız ve yön verilir. Demo, dar alan ve hassas manuel sürüş için uygun.</a:t>
            </a:r>
          </a:p>
        </p:txBody>
      </p:sp>
      <p:sp>
        <p:nvSpPr>
          <p:cNvPr id="9" name="xr-control-index-2">
            <a:extLst xmlns:a="http://schemas.openxmlformats.org/drawingml/2006/main">
              <a:ext uri="{FF2B5EF4-FFF2-40B4-BE49-F238E27FC236}">
                <a16:creationId xmlns:a16="http://schemas.microsoft.com/office/drawing/2014/main" id="{6B8E75E8-B335-41BC-8392-447E4CE8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xr-control-index-text-2">
            <a:extLst xmlns:a="http://schemas.openxmlformats.org/drawingml/2006/main">
              <a:ext uri="{FF2B5EF4-FFF2-40B4-BE49-F238E27FC236}">
                <a16:creationId xmlns:a16="http://schemas.microsoft.com/office/drawing/2014/main" id="{11F13662-6559-45B7-90F7-36A566BA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243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xr-control-title-2">
            <a:extLst xmlns:a="http://schemas.openxmlformats.org/drawingml/2006/main">
              <a:ext uri="{FF2B5EF4-FFF2-40B4-BE49-F238E27FC236}">
                <a16:creationId xmlns:a16="http://schemas.microsoft.com/office/drawing/2014/main" id="{58C1152E-2CEF-4CE8-BBEC-C7B8BF61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3733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Head Rotation Control</a:t>
            </a:r>
          </a:p>
        </p:txBody>
      </p:sp>
      <p:sp>
        <p:nvSpPr>
          <p:cNvPr id="12" name="xr-control-body-2">
            <a:extLst xmlns:a="http://schemas.openxmlformats.org/drawingml/2006/main">
              <a:ext uri="{FF2B5EF4-FFF2-40B4-BE49-F238E27FC236}">
                <a16:creationId xmlns:a16="http://schemas.microsoft.com/office/drawing/2014/main" id="{01C67911-163B-4008-8DDA-8EDFA506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52925"/>
            <a:ext cx="3790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Başın baktığı yön robotun yürüyüş niyetine çevrilir. Operatör robotu bakışla yönlendirir.</a:t>
            </a:r>
          </a:p>
        </p:txBody>
      </p:sp>
      <p:sp>
        <p:nvSpPr>
          <p:cNvPr id="13" name="xr-control-index-3">
            <a:extLst xmlns:a="http://schemas.openxmlformats.org/drawingml/2006/main">
              <a:ext uri="{FF2B5EF4-FFF2-40B4-BE49-F238E27FC236}">
                <a16:creationId xmlns:a16="http://schemas.microsoft.com/office/drawing/2014/main" id="{7B065A7C-ADAB-402C-B890-545E1E2F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62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xr-control-index-text-3">
            <a:extLst xmlns:a="http://schemas.openxmlformats.org/drawingml/2006/main">
              <a:ext uri="{FF2B5EF4-FFF2-40B4-BE49-F238E27FC236}">
                <a16:creationId xmlns:a16="http://schemas.microsoft.com/office/drawing/2014/main" id="{76E20B3E-A826-4DAC-BDF7-A6899839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01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xr-control-title-3">
            <a:extLst xmlns:a="http://schemas.openxmlformats.org/drawingml/2006/main">
              <a:ext uri="{FF2B5EF4-FFF2-40B4-BE49-F238E27FC236}">
                <a16:creationId xmlns:a16="http://schemas.microsoft.com/office/drawing/2014/main" id="{4DE25A54-105F-4813-A6B2-F9D8C571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3733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Motion Mimic / Position Sync</a:t>
            </a:r>
          </a:p>
        </p:txBody>
      </p:sp>
      <p:sp>
        <p:nvSpPr>
          <p:cNvPr id="16" name="xr-control-body-3">
            <a:extLst xmlns:a="http://schemas.openxmlformats.org/drawingml/2006/main">
              <a:ext uri="{FF2B5EF4-FFF2-40B4-BE49-F238E27FC236}">
                <a16:creationId xmlns:a16="http://schemas.microsoft.com/office/drawing/2014/main" id="{8C344EE8-A8C2-44D9-919D-1BCE60C1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38775"/>
            <a:ext cx="3790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Operatörün pozisyonu ve yönelimi robot hareketine eşlenir. Telepresence hissini güçlendirir.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a2e3186cb45d7"/>
          <a:srcRect xmlns:a="http://schemas.openxmlformats.org/drawingml/2006/main" l="28" t="0" r="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819150"/>
            <a:ext cx="6191250" cy="3886200"/>
          </a:xfrm>
          <a:prstGeom xmlns:a="http://schemas.openxmlformats.org/drawingml/2006/main" prst="rect">
            <a:avLst/>
          </a:prstGeom>
        </p:spPr>
      </p:pic>
      <p:sp>
        <p:nvSpPr>
          <p:cNvPr id="18" name="xr-screenshot-outline">
            <a:extLst xmlns:a="http://schemas.openxmlformats.org/drawingml/2006/main">
              <a:ext uri="{FF2B5EF4-FFF2-40B4-BE49-F238E27FC236}">
                <a16:creationId xmlns:a16="http://schemas.microsoft.com/office/drawing/2014/main" id="{3C8544A3-93A0-4302-89A7-10442316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819150"/>
            <a:ext cx="619125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xr-caption">
            <a:extLst xmlns:a="http://schemas.openxmlformats.org/drawingml/2006/main">
              <a:ext uri="{FF2B5EF4-FFF2-40B4-BE49-F238E27FC236}">
                <a16:creationId xmlns:a16="http://schemas.microsoft.com/office/drawing/2014/main" id="{C4187414-2472-4272-9FF5-67A7DD0F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953000"/>
            <a:ext cx="613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E2E8F0"/>
                </a:solidFill>
              </a:defRPr>
            </a:pPr>
            <a:r>
              <a:rPr sz="1350">
                <a:solidFill>
                  <a:srgbClr val="E2E8F0"/>
                </a:solidFill>
              </a:rPr>
              <a:t>Görüntüde Vision Pro arayüzü robot sahnesinin üzerine bindirilmiş: üç kontrol modu aynı seçim ekranında karşılaştırılıyor.</a:t>
            </a:r>
          </a:p>
        </p:txBody>
      </p:sp>
      <p:sp>
        <p:nvSpPr>
          <p:cNvPr id="20" name="xr-bottom-band">
            <a:extLst xmlns:a="http://schemas.openxmlformats.org/drawingml/2006/main">
              <a:ext uri="{FF2B5EF4-FFF2-40B4-BE49-F238E27FC236}">
                <a16:creationId xmlns:a16="http://schemas.microsoft.com/office/drawing/2014/main" id="{57876312-5A30-4144-95D1-274E33D4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886450"/>
            <a:ext cx="6191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21923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1" name="xr-bottom-copy">
            <a:extLst xmlns:a="http://schemas.openxmlformats.org/drawingml/2006/main">
              <a:ext uri="{FF2B5EF4-FFF2-40B4-BE49-F238E27FC236}">
                <a16:creationId xmlns:a16="http://schemas.microsoft.com/office/drawing/2014/main" id="{16098D38-1D12-4BC2-AC87-69FD5C76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10275"/>
            <a:ext cx="575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Yürütme katmanı tek bir kontrol biçimine kilitlenmez; görev, ortam ve operatör deneyimine göre mod seçilir.</a:t>
            </a:r>
          </a:p>
        </p:txBody>
      </p:sp>
    </p:spTree>
    <p:extLst>
      <p:ext uri="{BB962C8B-B14F-4D97-AF65-F5344CB8AC3E}">
        <p14:creationId xmlns:p14="http://schemas.microsoft.com/office/powerpoint/2010/main" val="10000822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ummary-eyebrow">
            <a:extLst xmlns:a="http://schemas.openxmlformats.org/drawingml/2006/main">
              <a:ext uri="{FF2B5EF4-FFF2-40B4-BE49-F238E27FC236}">
                <a16:creationId xmlns:a16="http://schemas.microsoft.com/office/drawing/2014/main" id="{886992DE-3408-416A-B8FF-1AC80747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C2626"/>
                </a:solidFill>
              </a:defRPr>
            </a:pPr>
            <a:r>
              <a:rPr sz="1050" b="1">
                <a:solidFill>
                  <a:srgbClr val="DC2626"/>
                </a:solidFill>
              </a:rPr>
              <a:t>FEATURE SCOPE</a:t>
            </a:r>
          </a:p>
        </p:txBody>
      </p:sp>
      <p:sp>
        <p:nvSpPr>
          <p:cNvPr id="2" name="summary-title">
            <a:extLst xmlns:a="http://schemas.openxmlformats.org/drawingml/2006/main">
              <a:ext uri="{FF2B5EF4-FFF2-40B4-BE49-F238E27FC236}">
                <a16:creationId xmlns:a16="http://schemas.microsoft.com/office/drawing/2014/main" id="{A8CB66A5-8391-4BDA-A9AF-7C397E07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Camera Stream, Teleoperation ve kayıt akışları hariç özellikler</a:t>
            </a:r>
          </a:p>
        </p:txBody>
      </p:sp>
      <p:sp>
        <p:nvSpPr>
          <p:cNvPr id="3" name="summary-subtitle">
            <a:extLst xmlns:a="http://schemas.openxmlformats.org/drawingml/2006/main">
              <a:ext uri="{FF2B5EF4-FFF2-40B4-BE49-F238E27FC236}">
                <a16:creationId xmlns:a16="http://schemas.microsoft.com/office/drawing/2014/main" id="{085C0BBD-E7D4-4EE5-876C-E31DEEB4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Robot deneyimini kamera yayını, teleoperation ve kayıt/sequence akışlarına dayanmadan anlatan ürün katmanları.</a:t>
            </a:r>
          </a:p>
        </p:txBody>
      </p:sp>
      <p:sp>
        <p:nvSpPr>
          <p:cNvPr id="4" name="summary-accent-1">
            <a:extLst xmlns:a="http://schemas.openxmlformats.org/drawingml/2006/main">
              <a:ext uri="{FF2B5EF4-FFF2-40B4-BE49-F238E27FC236}">
                <a16:creationId xmlns:a16="http://schemas.microsoft.com/office/drawing/2014/main" id="{153ABE25-DE31-492F-9B5C-1F16266B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mmary-column-title-1">
            <a:extLst xmlns:a="http://schemas.openxmlformats.org/drawingml/2006/main">
              <a:ext uri="{FF2B5EF4-FFF2-40B4-BE49-F238E27FC236}">
                <a16:creationId xmlns:a16="http://schemas.microsoft.com/office/drawing/2014/main" id="{23C6B5C8-67D6-4712-AEE4-2B746EFF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Cockpit ve AI</a:t>
            </a:r>
          </a:p>
        </p:txBody>
      </p:sp>
      <p:sp>
        <p:nvSpPr>
          <p:cNvPr id="6" name="summary-dot-1-0">
            <a:extLst xmlns:a="http://schemas.openxmlformats.org/drawingml/2006/main">
              <a:ext uri="{FF2B5EF4-FFF2-40B4-BE49-F238E27FC236}">
                <a16:creationId xmlns:a16="http://schemas.microsoft.com/office/drawing/2014/main" id="{E782920F-02C3-4BE3-A23F-A49B4820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ummary-item-1-0">
            <a:extLst xmlns:a="http://schemas.openxmlformats.org/drawingml/2006/main">
              <a:ext uri="{FF2B5EF4-FFF2-40B4-BE49-F238E27FC236}">
                <a16:creationId xmlns:a16="http://schemas.microsoft.com/office/drawing/2014/main" id="{82752ACF-2A1E-408B-94EB-E53764A0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AI Chatbot ile doğal dil komut ve cevap akışı</a:t>
            </a:r>
          </a:p>
        </p:txBody>
      </p:sp>
      <p:sp>
        <p:nvSpPr>
          <p:cNvPr id="8" name="summary-dot-1-1">
            <a:extLst xmlns:a="http://schemas.openxmlformats.org/drawingml/2006/main">
              <a:ext uri="{FF2B5EF4-FFF2-40B4-BE49-F238E27FC236}">
                <a16:creationId xmlns:a16="http://schemas.microsoft.com/office/drawing/2014/main" id="{C9E43975-E384-4751-86AB-7B1BEA92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ummary-item-1-1">
            <a:extLst xmlns:a="http://schemas.openxmlformats.org/drawingml/2006/main">
              <a:ext uri="{FF2B5EF4-FFF2-40B4-BE49-F238E27FC236}">
                <a16:creationId xmlns:a16="http://schemas.microsoft.com/office/drawing/2014/main" id="{71A3217D-8F84-4FA9-9A63-F6D21C84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Bilgi akışı / RAG ile robot bağlamını toplama</a:t>
            </a:r>
          </a:p>
        </p:txBody>
      </p:sp>
      <p:sp>
        <p:nvSpPr>
          <p:cNvPr id="10" name="summary-dot-1-2">
            <a:extLst xmlns:a="http://schemas.openxmlformats.org/drawingml/2006/main">
              <a:ext uri="{FF2B5EF4-FFF2-40B4-BE49-F238E27FC236}">
                <a16:creationId xmlns:a16="http://schemas.microsoft.com/office/drawing/2014/main" id="{BF43D49A-E3E9-4F68-94F4-2B393140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ummary-item-1-2">
            <a:extLst xmlns:a="http://schemas.openxmlformats.org/drawingml/2006/main">
              <a:ext uri="{FF2B5EF4-FFF2-40B4-BE49-F238E27FC236}">
                <a16:creationId xmlns:a16="http://schemas.microsoft.com/office/drawing/2014/main" id="{71EB9F1E-E26F-430E-8ED0-0C507D06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Robot Twin ile dijital sahne ve durum hissi</a:t>
            </a:r>
          </a:p>
        </p:txBody>
      </p:sp>
      <p:sp>
        <p:nvSpPr>
          <p:cNvPr id="12" name="summary-dot-1-3">
            <a:extLst xmlns:a="http://schemas.openxmlformats.org/drawingml/2006/main">
              <a:ext uri="{FF2B5EF4-FFF2-40B4-BE49-F238E27FC236}">
                <a16:creationId xmlns:a16="http://schemas.microsoft.com/office/drawing/2014/main" id="{D0110764-0F71-46B5-9DF9-3EDEA65E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ummary-item-1-3">
            <a:extLst xmlns:a="http://schemas.openxmlformats.org/drawingml/2006/main">
              <a:ext uri="{FF2B5EF4-FFF2-40B4-BE49-F238E27FC236}">
                <a16:creationId xmlns:a16="http://schemas.microsoft.com/office/drawing/2014/main" id="{BAA415C0-742B-4962-8DE9-97C16EB5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Tek cockpit içinde operatör karar ekranı</a:t>
            </a:r>
          </a:p>
        </p:txBody>
      </p:sp>
      <p:sp>
        <p:nvSpPr>
          <p:cNvPr id="14" name="summary-accent-2">
            <a:extLst xmlns:a="http://schemas.openxmlformats.org/drawingml/2006/main">
              <a:ext uri="{FF2B5EF4-FFF2-40B4-BE49-F238E27FC236}">
                <a16:creationId xmlns:a16="http://schemas.microsoft.com/office/drawing/2014/main" id="{3BB516E3-7CCC-43C9-A41C-8D0154D1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4790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ummary-column-title-2">
            <a:extLst xmlns:a="http://schemas.openxmlformats.org/drawingml/2006/main">
              <a:ext uri="{FF2B5EF4-FFF2-40B4-BE49-F238E27FC236}">
                <a16:creationId xmlns:a16="http://schemas.microsoft.com/office/drawing/2014/main" id="{09F93FB2-4CD9-4A11-AA0F-4875ACAE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574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Robot Twin</a:t>
            </a:r>
          </a:p>
        </p:txBody>
      </p:sp>
      <p:sp>
        <p:nvSpPr>
          <p:cNvPr id="16" name="summary-dot-2-0">
            <a:extLst xmlns:a="http://schemas.openxmlformats.org/drawingml/2006/main">
              <a:ext uri="{FF2B5EF4-FFF2-40B4-BE49-F238E27FC236}">
                <a16:creationId xmlns:a16="http://schemas.microsoft.com/office/drawing/2014/main" id="{275B9D02-32DD-4752-AD2E-3608401D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86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ummary-item-2-0">
            <a:extLst xmlns:a="http://schemas.openxmlformats.org/drawingml/2006/main">
              <a:ext uri="{FF2B5EF4-FFF2-40B4-BE49-F238E27FC236}">
                <a16:creationId xmlns:a16="http://schemas.microsoft.com/office/drawing/2014/main" id="{06400A28-3AF6-4DB5-BE61-07951529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0990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Dijital robot görünümüyle sahneyi okuma</a:t>
            </a:r>
          </a:p>
        </p:txBody>
      </p:sp>
      <p:sp>
        <p:nvSpPr>
          <p:cNvPr id="18" name="summary-dot-2-1">
            <a:extLst xmlns:a="http://schemas.openxmlformats.org/drawingml/2006/main">
              <a:ext uri="{FF2B5EF4-FFF2-40B4-BE49-F238E27FC236}">
                <a16:creationId xmlns:a16="http://schemas.microsoft.com/office/drawing/2014/main" id="{BD3D500E-9961-45BB-BA34-8FF112FD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ummary-item-2-1">
            <a:extLst xmlns:a="http://schemas.openxmlformats.org/drawingml/2006/main">
              <a:ext uri="{FF2B5EF4-FFF2-40B4-BE49-F238E27FC236}">
                <a16:creationId xmlns:a16="http://schemas.microsoft.com/office/drawing/2014/main" id="{039C0838-D042-4CA0-AF8A-220B0B40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6235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Robot durumunu görsel olarak takip etme</a:t>
            </a:r>
          </a:p>
        </p:txBody>
      </p:sp>
      <p:sp>
        <p:nvSpPr>
          <p:cNvPr id="20" name="summary-dot-2-2">
            <a:extLst xmlns:a="http://schemas.openxmlformats.org/drawingml/2006/main">
              <a:ext uri="{FF2B5EF4-FFF2-40B4-BE49-F238E27FC236}">
                <a16:creationId xmlns:a16="http://schemas.microsoft.com/office/drawing/2014/main" id="{8A5E66CF-4E3F-4C37-9286-98BE9CD2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ummary-item-2-2">
            <a:extLst xmlns:a="http://schemas.openxmlformats.org/drawingml/2006/main">
              <a:ext uri="{FF2B5EF4-FFF2-40B4-BE49-F238E27FC236}">
                <a16:creationId xmlns:a16="http://schemas.microsoft.com/office/drawing/2014/main" id="{A2392BB0-778B-48CF-82CC-AA99B9E8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1480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Operatöre tek bakışta sahne farkındalığı verme</a:t>
            </a:r>
          </a:p>
        </p:txBody>
      </p:sp>
      <p:sp>
        <p:nvSpPr>
          <p:cNvPr id="22" name="summary-dot-2-3">
            <a:extLst xmlns:a="http://schemas.openxmlformats.org/drawingml/2006/main">
              <a:ext uri="{FF2B5EF4-FFF2-40B4-BE49-F238E27FC236}">
                <a16:creationId xmlns:a16="http://schemas.microsoft.com/office/drawing/2014/main" id="{3BAC5C97-2047-4C1E-A9A9-85596491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74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ummary-item-2-3">
            <a:extLst xmlns:a="http://schemas.openxmlformats.org/drawingml/2006/main">
              <a:ext uri="{FF2B5EF4-FFF2-40B4-BE49-F238E27FC236}">
                <a16:creationId xmlns:a16="http://schemas.microsoft.com/office/drawing/2014/main" id="{08E9C1E0-9197-484B-B25A-43905A97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6725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Gerçek robot ile dijital bağlamı aynı hikayede toplama</a:t>
            </a:r>
          </a:p>
        </p:txBody>
      </p:sp>
      <p:sp>
        <p:nvSpPr>
          <p:cNvPr id="24" name="summary-accent-3">
            <a:extLst xmlns:a="http://schemas.openxmlformats.org/drawingml/2006/main">
              <a:ext uri="{FF2B5EF4-FFF2-40B4-BE49-F238E27FC236}">
                <a16:creationId xmlns:a16="http://schemas.microsoft.com/office/drawing/2014/main" id="{DB4E2D7A-CD0B-4BE6-9D46-C5C24FEC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ummary-column-title-3">
            <a:extLst xmlns:a="http://schemas.openxmlformats.org/drawingml/2006/main">
              <a:ext uri="{FF2B5EF4-FFF2-40B4-BE49-F238E27FC236}">
                <a16:creationId xmlns:a16="http://schemas.microsoft.com/office/drawing/2014/main" id="{9542CB7D-BD85-4453-9A8F-BDF5C68A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Live Dashboard</a:t>
            </a:r>
          </a:p>
        </p:txBody>
      </p:sp>
      <p:sp>
        <p:nvSpPr>
          <p:cNvPr id="26" name="summary-dot-3-0">
            <a:extLst xmlns:a="http://schemas.openxmlformats.org/drawingml/2006/main">
              <a:ext uri="{FF2B5EF4-FFF2-40B4-BE49-F238E27FC236}">
                <a16:creationId xmlns:a16="http://schemas.microsoft.com/office/drawing/2014/main" id="{57462B64-BB98-4779-B659-4B499F2F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86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ummary-item-3-0">
            <a:extLst xmlns:a="http://schemas.openxmlformats.org/drawingml/2006/main">
              <a:ext uri="{FF2B5EF4-FFF2-40B4-BE49-F238E27FC236}">
                <a16:creationId xmlns:a16="http://schemas.microsoft.com/office/drawing/2014/main" id="{085F348E-0A53-4897-8173-B558CBC1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0990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Anlık robot durumunu okunabilir hale getirme</a:t>
            </a:r>
          </a:p>
        </p:txBody>
      </p:sp>
      <p:sp>
        <p:nvSpPr>
          <p:cNvPr id="28" name="summary-dot-3-1">
            <a:extLst xmlns:a="http://schemas.openxmlformats.org/drawingml/2006/main">
              <a:ext uri="{FF2B5EF4-FFF2-40B4-BE49-F238E27FC236}">
                <a16:creationId xmlns:a16="http://schemas.microsoft.com/office/drawing/2014/main" id="{798A8D34-1722-480C-941A-F7BF126B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ummary-item-3-1">
            <a:extLst xmlns:a="http://schemas.openxmlformats.org/drawingml/2006/main">
              <a:ext uri="{FF2B5EF4-FFF2-40B4-BE49-F238E27FC236}">
                <a16:creationId xmlns:a16="http://schemas.microsoft.com/office/drawing/2014/main" id="{A30FF992-1702-4567-9D98-7D9D21ED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6235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Sistem sağlığı ve bağlantı bilgisini takip etme</a:t>
            </a:r>
          </a:p>
        </p:txBody>
      </p:sp>
      <p:sp>
        <p:nvSpPr>
          <p:cNvPr id="30" name="summary-dot-3-2">
            <a:extLst xmlns:a="http://schemas.openxmlformats.org/drawingml/2006/main">
              <a:ext uri="{FF2B5EF4-FFF2-40B4-BE49-F238E27FC236}">
                <a16:creationId xmlns:a16="http://schemas.microsoft.com/office/drawing/2014/main" id="{CC2DDA57-9192-4ED7-BF8A-78A9F479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ummary-item-3-2">
            <a:extLst xmlns:a="http://schemas.openxmlformats.org/drawingml/2006/main">
              <a:ext uri="{FF2B5EF4-FFF2-40B4-BE49-F238E27FC236}">
                <a16:creationId xmlns:a16="http://schemas.microsoft.com/office/drawing/2014/main" id="{44C264DE-0344-4E9E-B0B5-3BA72D05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1480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Operasyon ekranında hızlı kontrol hissi verme</a:t>
            </a:r>
          </a:p>
        </p:txBody>
      </p:sp>
      <p:sp>
        <p:nvSpPr>
          <p:cNvPr id="32" name="summary-dot-3-3">
            <a:extLst xmlns:a="http://schemas.openxmlformats.org/drawingml/2006/main">
              <a:ext uri="{FF2B5EF4-FFF2-40B4-BE49-F238E27FC236}">
                <a16:creationId xmlns:a16="http://schemas.microsoft.com/office/drawing/2014/main" id="{77F26244-1A37-4C2C-8191-EF0A43F3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4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ummary-item-3-3">
            <a:extLst xmlns:a="http://schemas.openxmlformats.org/drawingml/2006/main">
              <a:ext uri="{FF2B5EF4-FFF2-40B4-BE49-F238E27FC236}">
                <a16:creationId xmlns:a16="http://schemas.microsoft.com/office/drawing/2014/main" id="{4A34C9D7-E7A7-4B69-9B46-432A309D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6725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Log, durum ve hata bilgisini tek deneyime bağlama</a:t>
            </a:r>
          </a:p>
        </p:txBody>
      </p:sp>
      <p:sp>
        <p:nvSpPr>
          <p:cNvPr id="34" name="summary-accent-4">
            <a:extLst xmlns:a="http://schemas.openxmlformats.org/drawingml/2006/main">
              <a:ext uri="{FF2B5EF4-FFF2-40B4-BE49-F238E27FC236}">
                <a16:creationId xmlns:a16="http://schemas.microsoft.com/office/drawing/2014/main" id="{2B3B6C7C-D2B3-4E47-8004-DF727B22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4790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ummary-column-title-4">
            <a:extLst xmlns:a="http://schemas.openxmlformats.org/drawingml/2006/main">
              <a:ext uri="{FF2B5EF4-FFF2-40B4-BE49-F238E27FC236}">
                <a16:creationId xmlns:a16="http://schemas.microsoft.com/office/drawing/2014/main" id="{DF069BEB-1216-48D1-A984-4C1A8245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574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Entegrasyon ve Demo Hazırlığı</a:t>
            </a:r>
          </a:p>
        </p:txBody>
      </p:sp>
      <p:sp>
        <p:nvSpPr>
          <p:cNvPr id="36" name="summary-dot-4-0">
            <a:extLst xmlns:a="http://schemas.openxmlformats.org/drawingml/2006/main">
              <a:ext uri="{FF2B5EF4-FFF2-40B4-BE49-F238E27FC236}">
                <a16:creationId xmlns:a16="http://schemas.microsoft.com/office/drawing/2014/main" id="{46BF30B7-66F6-45ED-B6EF-6A64DD8D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86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ummary-item-4-0">
            <a:extLst xmlns:a="http://schemas.openxmlformats.org/drawingml/2006/main">
              <a:ext uri="{FF2B5EF4-FFF2-40B4-BE49-F238E27FC236}">
                <a16:creationId xmlns:a16="http://schemas.microsoft.com/office/drawing/2014/main" id="{CCC25C07-1392-47D4-A6DC-1C519829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0990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ROS Visibility ile altyapı görünürlüğü</a:t>
            </a:r>
          </a:p>
        </p:txBody>
      </p:sp>
      <p:sp>
        <p:nvSpPr>
          <p:cNvPr id="38" name="summary-dot-4-1">
            <a:extLst xmlns:a="http://schemas.openxmlformats.org/drawingml/2006/main">
              <a:ext uri="{FF2B5EF4-FFF2-40B4-BE49-F238E27FC236}">
                <a16:creationId xmlns:a16="http://schemas.microsoft.com/office/drawing/2014/main" id="{59DCD151-D03D-49E5-BAF1-54119ECD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ummary-item-4-1">
            <a:extLst xmlns:a="http://schemas.openxmlformats.org/drawingml/2006/main">
              <a:ext uri="{FF2B5EF4-FFF2-40B4-BE49-F238E27FC236}">
                <a16:creationId xmlns:a16="http://schemas.microsoft.com/office/drawing/2014/main" id="{1C934687-CCD9-413D-BBFA-1CC91430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6235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Modüler kontrol katmanları</a:t>
            </a:r>
          </a:p>
        </p:txBody>
      </p:sp>
      <p:sp>
        <p:nvSpPr>
          <p:cNvPr id="40" name="summary-dot-4-2">
            <a:extLst xmlns:a="http://schemas.openxmlformats.org/drawingml/2006/main">
              <a:ext uri="{FF2B5EF4-FFF2-40B4-BE49-F238E27FC236}">
                <a16:creationId xmlns:a16="http://schemas.microsoft.com/office/drawing/2014/main" id="{876A55B3-C675-4707-B33C-7575D67B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ummary-item-4-2">
            <a:extLst xmlns:a="http://schemas.openxmlformats.org/drawingml/2006/main">
              <a:ext uri="{FF2B5EF4-FFF2-40B4-BE49-F238E27FC236}">
                <a16:creationId xmlns:a16="http://schemas.microsoft.com/office/drawing/2014/main" id="{7BD7F432-15B1-49E2-9039-A400CC69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1480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Pilot/demo için tek ekran deneyimi</a:t>
            </a:r>
          </a:p>
        </p:txBody>
      </p:sp>
      <p:sp>
        <p:nvSpPr>
          <p:cNvPr id="42" name="summary-dot-4-3">
            <a:extLst xmlns:a="http://schemas.openxmlformats.org/drawingml/2006/main">
              <a:ext uri="{FF2B5EF4-FFF2-40B4-BE49-F238E27FC236}">
                <a16:creationId xmlns:a16="http://schemas.microsoft.com/office/drawing/2014/main" id="{5E75EF89-CD79-4D07-9D0D-AA682D58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4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ummary-item-4-3">
            <a:extLst xmlns:a="http://schemas.openxmlformats.org/drawingml/2006/main">
              <a:ext uri="{FF2B5EF4-FFF2-40B4-BE49-F238E27FC236}">
                <a16:creationId xmlns:a16="http://schemas.microsoft.com/office/drawing/2014/main" id="{28B2257B-7CF8-47A6-898F-B0327ABB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6725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74151"/>
                </a:solidFill>
              </a:defRPr>
            </a:pPr>
            <a:r>
              <a:rPr sz="1275">
                <a:solidFill>
                  <a:srgbClr val="374151"/>
                </a:solidFill>
              </a:rPr>
              <a:t>Premium control layer ile ürün hissi</a:t>
            </a:r>
          </a:p>
        </p:txBody>
      </p:sp>
      <p:sp>
        <p:nvSpPr>
          <p:cNvPr id="44" name="summary-footer-line">
            <a:extLst xmlns:a="http://schemas.openxmlformats.org/drawingml/2006/main">
              <a:ext uri="{FF2B5EF4-FFF2-40B4-BE49-F238E27FC236}">
                <a16:creationId xmlns:a16="http://schemas.microsoft.com/office/drawing/2014/main" id="{A61945C7-053D-4731-AC9B-9DC5B7AD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ummary-footer">
            <a:extLst xmlns:a="http://schemas.openxmlformats.org/drawingml/2006/main">
              <a:ext uri="{FF2B5EF4-FFF2-40B4-BE49-F238E27FC236}">
                <a16:creationId xmlns:a16="http://schemas.microsoft.com/office/drawing/2014/main" id="{A1392C9E-70A5-4E90-B45F-5740DA03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Kapsam dışı: Camera Stream, Teleoperation / Remote Presence, kayıt-sequence akışları, IK/simülasyon ve XR walking control modes.</a:t>
            </a:r>
          </a:p>
        </p:txBody>
      </p:sp>
    </p:spTree>
    <p:extLst>
      <p:ext uri="{BB962C8B-B14F-4D97-AF65-F5344CB8AC3E}">
        <p14:creationId xmlns:p14="http://schemas.microsoft.com/office/powerpoint/2010/main" val="1369150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2026-07-07T08:44:37.5690000Z</dcterms:created>
  <dcterms:modified xsi:type="dcterms:W3CDTF">2026-07-07T08:44:37.5690000Z</dcterms:modified>
</coreProperties>
</file>