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0de723d7e64b49" /><Relationship Type="http://schemas.openxmlformats.org/officeDocument/2006/relationships/extended-properties" Target="/docProps/app.xml" Id="Re9ff5351c8554893" /><Relationship Type="http://schemas.openxmlformats.org/officeDocument/2006/relationships/officeDocument" Target="/ppt/presentation.xml" Id="R1d8f564840e84a8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28775364254e38"/>
  </p:sldMasterIdLst>
  <p:notesMasterIdLst>
    <p:notesMasterId xmlns:r="http://schemas.openxmlformats.org/officeDocument/2006/relationships" r:id="Rbc37d91d4a90491b"/>
  </p:notesMasterIdLst>
  <p:sldIdLst>
    <p:sldId xmlns:r="http://schemas.openxmlformats.org/officeDocument/2006/relationships" id="256" r:id="Rdc5d718d2e7e4fb9"/>
    <p:sldId xmlns:r="http://schemas.openxmlformats.org/officeDocument/2006/relationships" id="257" r:id="Rf5678d10d4f248ac"/>
    <p:sldId xmlns:r="http://schemas.openxmlformats.org/officeDocument/2006/relationships" id="258" r:id="Rc7e73f86f6ce486f"/>
    <p:sldId xmlns:r="http://schemas.openxmlformats.org/officeDocument/2006/relationships" id="259" r:id="R1b6d3e9e0d034260"/>
    <p:sldId xmlns:r="http://schemas.openxmlformats.org/officeDocument/2006/relationships" id="260" r:id="R262a19597abc47d0"/>
    <p:sldId xmlns:r="http://schemas.openxmlformats.org/officeDocument/2006/relationships" id="261" r:id="Ra80c764aa98a44aa"/>
    <p:sldId xmlns:r="http://schemas.openxmlformats.org/officeDocument/2006/relationships" id="262" r:id="Re99c09358c0b4ff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00029abc70d4346" /><Relationship Type="http://schemas.openxmlformats.org/officeDocument/2006/relationships/slideMaster" Target="/ppt/slideMasters/slideMaster1.xml" Id="Rcd28775364254e38" /><Relationship Type="http://schemas.openxmlformats.org/officeDocument/2006/relationships/notesMaster" Target="/ppt/notesMasters/notesMaster1.xml" Id="Rbc37d91d4a90491b" /><Relationship Type="http://schemas.openxmlformats.org/officeDocument/2006/relationships/presProps" Target="/ppt/presProps.xml" Id="Rb78f5f4facf84718" /><Relationship Type="http://schemas.openxmlformats.org/officeDocument/2006/relationships/tableStyles" Target="/ppt/tableStyles.xml" Id="R6569815745274dce" /><Relationship Type="http://schemas.openxmlformats.org/officeDocument/2006/relationships/slide" Target="/ppt/slides/slide1.xml" Id="Rdc5d718d2e7e4fb9" /><Relationship Type="http://schemas.openxmlformats.org/officeDocument/2006/relationships/slide" Target="/ppt/slides/slide2.xml" Id="Rf5678d10d4f248ac" /><Relationship Type="http://schemas.openxmlformats.org/officeDocument/2006/relationships/slide" Target="/ppt/slides/slide3.xml" Id="Rc7e73f86f6ce486f" /><Relationship Type="http://schemas.openxmlformats.org/officeDocument/2006/relationships/slide" Target="/ppt/slides/slide4.xml" Id="R1b6d3e9e0d034260" /><Relationship Type="http://schemas.openxmlformats.org/officeDocument/2006/relationships/slide" Target="/ppt/slides/slide5.xml" Id="R262a19597abc47d0" /><Relationship Type="http://schemas.openxmlformats.org/officeDocument/2006/relationships/slide" Target="/ppt/slides/slide6.xml" Id="Ra80c764aa98a44aa" /><Relationship Type="http://schemas.openxmlformats.org/officeDocument/2006/relationships/slide" Target="/ppt/slides/slide7.xml" Id="Re99c09358c0b4ff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6884a027a4246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8ef0e6ecc142f2" /><Relationship Type="http://schemas.openxmlformats.org/officeDocument/2006/relationships/notesMaster" Target="/ppt/notesMasters/notesMaster1.xml" Id="R3ba41dd5df5d474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9a7f0ddc994dc5" /><Relationship Type="http://schemas.openxmlformats.org/officeDocument/2006/relationships/notesMaster" Target="/ppt/notesMasters/notesMaster1.xml" Id="Rb2434a571afa487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0ef4102d10422d" /><Relationship Type="http://schemas.openxmlformats.org/officeDocument/2006/relationships/notesMaster" Target="/ppt/notesMasters/notesMaster1.xml" Id="R566c760955634f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7582964d94647c4" /><Relationship Type="http://schemas.openxmlformats.org/officeDocument/2006/relationships/notesMaster" Target="/ppt/notesMasters/notesMaster1.xml" Id="R72d6b501a2cb46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eb3f83f69e401a" /><Relationship Type="http://schemas.openxmlformats.org/officeDocument/2006/relationships/notesMaster" Target="/ppt/notesMasters/notesMaster1.xml" Id="R7aa6395047e9403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5cf8ce0c31d4950" /><Relationship Type="http://schemas.openxmlformats.org/officeDocument/2006/relationships/notesMaster" Target="/ppt/notesMasters/notesMaster1.xml" Id="R1e6a233cb4954e7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a736c76fa2e43f0" /><Relationship Type="http://schemas.openxmlformats.org/officeDocument/2006/relationships/notesMaster" Target="/ppt/notesMasters/notesMaster1.xml" Id="R5464f2a0298f4ab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f82bc782344d4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a61b4e64884bd1" /><Relationship Type="http://schemas.openxmlformats.org/officeDocument/2006/relationships/slideLayout" Target="/ppt/slideLayouts/slideLayout1.xml" Id="Rdeef2eb1cca7473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eef2eb1cca747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961542477f41fc" /><Relationship Type="http://schemas.openxmlformats.org/officeDocument/2006/relationships/image" Target="/ppt/media/image.png" Id="R906b1f59e49b4977" /><Relationship Type="http://schemas.openxmlformats.org/officeDocument/2006/relationships/notesSlide" Target="/ppt/notesSlides/notesSlide1.xml" Id="R08a4b6121a7f4d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2c1774e4c84cfb" /><Relationship Type="http://schemas.openxmlformats.org/officeDocument/2006/relationships/image" Target="/ppt/media/image2.png" Id="R4c40f2c458fb4f57" /><Relationship Type="http://schemas.openxmlformats.org/officeDocument/2006/relationships/image" Target="/ppt/media/image3.png" Id="R5930bac50ce64625" /><Relationship Type="http://schemas.openxmlformats.org/officeDocument/2006/relationships/image" Target="/ppt/media/image4.png" Id="Rca7b931ee8e84706" /><Relationship Type="http://schemas.openxmlformats.org/officeDocument/2006/relationships/notesSlide" Target="/ppt/notesSlides/notesSlide2.xml" Id="Rde8148f2e07244d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70d911d94b4805" /><Relationship Type="http://schemas.openxmlformats.org/officeDocument/2006/relationships/image" Target="/ppt/media/image5.png" Id="Rdc1592a1d89343d6" /><Relationship Type="http://schemas.openxmlformats.org/officeDocument/2006/relationships/notesSlide" Target="/ppt/notesSlides/notesSlide3.xml" Id="R7af0acb50a704f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0e49e2b66c4204" /><Relationship Type="http://schemas.openxmlformats.org/officeDocument/2006/relationships/image" Target="/ppt/media/image6.png" Id="R5a9b2f3eeba0497b" /><Relationship Type="http://schemas.openxmlformats.org/officeDocument/2006/relationships/image" Target="/ppt/media/image7.png" Id="Reba2e6d9678b434b" /><Relationship Type="http://schemas.openxmlformats.org/officeDocument/2006/relationships/image" Target="/ppt/media/image8.png" Id="R564870bbe1c44541" /><Relationship Type="http://schemas.openxmlformats.org/officeDocument/2006/relationships/notesSlide" Target="/ppt/notesSlides/notesSlide4.xml" Id="R06a54351dcaa40c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29a75b8c64662" /><Relationship Type="http://schemas.openxmlformats.org/officeDocument/2006/relationships/image" Target="/ppt/media/image.jpeg" Id="Rfab19316ab3346ae" /><Relationship Type="http://schemas.openxmlformats.org/officeDocument/2006/relationships/notesSlide" Target="/ppt/notesSlides/notesSlide5.xml" Id="R6d0b726ab8dd4e4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1cfb15a984474f" /><Relationship Type="http://schemas.openxmlformats.org/officeDocument/2006/relationships/image" Target="/ppt/media/image2.jpeg" Id="R0af0afe155304f28" /><Relationship Type="http://schemas.openxmlformats.org/officeDocument/2006/relationships/notesSlide" Target="/ppt/notesSlides/notesSlide6.xml" Id="Rc736a33b347249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50014b39ff436a" /><Relationship Type="http://schemas.openxmlformats.org/officeDocument/2006/relationships/notesSlide" Target="/ppt/notesSlides/notesSlide7.xml" Id="R4ff534dc006341c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F7A2D1-144D-4C72-8EF7-440FD849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ANA EKRAN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3E9EAE-E09B-410F-92E0-B7BD5C30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723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70707"/>
                </a:solidFill>
              </a:defRPr>
            </a:pPr>
            <a:r>
              <a:rPr sz="3000" b="1">
                <a:solidFill>
                  <a:srgbClr val="070707"/>
                </a:solidFill>
              </a:rPr>
              <a:t>Robotun bütün hikayesi tek cockpit içinde.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914283-5AB7-4449-B66E-70516803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0975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Solda AI Chatbot, ortada canlı bilgi akışı, sağda Robot Twin. Tek bakışta kontrol hissi.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6b1f59e49b4977"/>
          <a:srcRect xmlns:a="http://schemas.openxmlformats.org/drawingml/2006/main" l="0" t="30309" r="0" b="303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495550"/>
            <a:ext cx="11353800" cy="3105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46ADD-7EAC-46E4-8F34-98F16ED9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436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42FF94-086B-4A12-ADD8-538354CA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1912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SOL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75FEEB-D1FC-44CB-9B1D-DB662F84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1341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AI Chatbot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138E02-F313-4204-B463-19B43645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191250"/>
            <a:ext cx="781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ORTA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C28C3-8A19-4898-A224-88195F97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1341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Bilgi Akışı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76B340-E5ED-4627-B36B-6DCEC132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61912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SAG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4A2FD2-7A5B-40BF-AC20-963573BF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1341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Robot Twin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3CBAA1-9A23-4559-90FD-2A02009D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1341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Premium control layer</a:t>
            </a:r>
          </a:p>
        </p:txBody>
      </p:sp>
    </p:spTree>
    <p:extLst>
      <p:ext uri="{BB962C8B-B14F-4D97-AF65-F5344CB8AC3E}">
        <p14:creationId xmlns:p14="http://schemas.microsoft.com/office/powerpoint/2010/main" val="9499069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391501-F59A-4B77-896A-597E6C90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ROBOT TELEMETRI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BE3168-44F3-49F2-B2D9-5CB7D12E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819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75" b="1">
                <a:solidFill>
                  <a:srgbClr val="070707"/>
                </a:solidFill>
              </a:defRPr>
            </a:pPr>
            <a:r>
              <a:rPr sz="3075" b="1">
                <a:solidFill>
                  <a:srgbClr val="070707"/>
                </a:solidFill>
              </a:rPr>
              <a:t>Uc farkli telemetry hissi ayni deneyime akar.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92559D-A593-4B14-9757-06DC1A15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09750"/>
            <a:ext cx="800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Dashboard telemetry, camera stream ve Apple Vision Pro ile robotun sahnesi her yerden okunur.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40f2c458fb4f57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571750"/>
            <a:ext cx="3429000" cy="20955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30bac50ce64625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81500" y="2571750"/>
            <a:ext cx="3429000" cy="20955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7b931ee8e84706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43900" y="2571750"/>
            <a:ext cx="3429000" cy="2095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87206-3F73-43B7-91C7-BAA0BCE3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292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59EDD2-F6A7-4DCD-9453-BD8D3C7E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911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1. Live Dashboard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24DB14-D666-4BB4-9E6C-B0A7EFC0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3911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2. Camera Stream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5C3BDC-BC9E-4535-B5A2-2032A05C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3911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3. Apple Vision Pro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0630EB-4448-4F88-8542-00BA4D8E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55555"/>
                </a:solidFill>
              </a:defRPr>
            </a:pPr>
            <a:r>
              <a:rPr sz="1650">
                <a:solidFill>
                  <a:srgbClr val="555555"/>
                </a:solidFill>
              </a:rPr>
              <a:t>Real-time awareness / XR presence / Operator confidence</a:t>
            </a:r>
          </a:p>
        </p:txBody>
      </p:sp>
    </p:spTree>
    <p:extLst>
      <p:ext uri="{BB962C8B-B14F-4D97-AF65-F5344CB8AC3E}">
        <p14:creationId xmlns:p14="http://schemas.microsoft.com/office/powerpoint/2010/main" val="5247616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1592a1d89343d6"/>
          <a:srcRect xmlns:a="http://schemas.openxmlformats.org/drawingml/2006/main" l="18895" t="0" r="1889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6143625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7E6AED-FC7B-499D-AEF4-C828A2EEF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0"/>
            <a:ext cx="60483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42EDA-D3A7-4652-A87C-406291FD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43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MOTION SEQUENCE PLANNING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CCD265-0705-4970-9E51-8691E25A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952500"/>
            <a:ext cx="4629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70707"/>
                </a:solidFill>
              </a:defRPr>
            </a:pPr>
            <a:r>
              <a:rPr sz="3150" b="1">
                <a:solidFill>
                  <a:srgbClr val="070707"/>
                </a:solidFill>
              </a:rPr>
              <a:t>Hareket artik bir sequence haline geliyor.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A9C5E7-ED72-4920-9BF8-2D096BF2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24150"/>
            <a:ext cx="4457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Pose point kaydet, sequence kur, trajectory preview izle. Robot hareketi demo diline donusur.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9968E8-43A1-463A-AF5C-DB49A522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38550"/>
            <a:ext cx="411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00"/>
          </a:solidFill>
          <a:ln xmlns:a="http://schemas.openxmlformats.org/drawingml/2006/main" w="0">
            <a:solidFill>
              <a:srgbClr val="E6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A18113-6B5A-4B47-94AE-68E4A006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8145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Add Point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3951D8-2870-43F2-A0E0-EF591516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62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Pose Capture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9D0AFF-419D-4B44-8ADB-61ADA585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43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Sequence Builder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F372EA-DA9E-44AD-8AA1-C3D897C2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24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Trajectory Planning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F780E9-59D1-464C-807F-F724C90B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505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Crazy Seconds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A9B32B-3B39-47E1-9089-B395C63B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9436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55555"/>
                </a:solidFill>
              </a:defRPr>
            </a:pPr>
            <a:r>
              <a:rPr sz="1650">
                <a:solidFill>
                  <a:srgbClr val="555555"/>
                </a:solidFill>
              </a:rPr>
              <a:t>Repeatable motion / stage-ready timing / replayable moments</a:t>
            </a:r>
          </a:p>
        </p:txBody>
      </p:sp>
    </p:spTree>
    <p:extLst>
      <p:ext uri="{BB962C8B-B14F-4D97-AF65-F5344CB8AC3E}">
        <p14:creationId xmlns:p14="http://schemas.microsoft.com/office/powerpoint/2010/main" val="247829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A2AB7E-4838-4FE4-BF7A-E5097EA7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DEMO VE OPERASYON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AEB975-0AF5-4386-979D-9E32E3F4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8382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070707"/>
                </a:solidFill>
              </a:defRPr>
            </a:pPr>
            <a:r>
              <a:rPr sz="3225" b="1">
                <a:solidFill>
                  <a:srgbClr val="070707"/>
                </a:solidFill>
              </a:rPr>
              <a:t>Pilot, demo ve remote presence icin hazir bir robot platformu.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9b2f3eeba0497b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266950"/>
            <a:ext cx="3409950" cy="226695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a2e6d9678b434b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00550" y="2266950"/>
            <a:ext cx="3409950" cy="226695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4870bbe1c44541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2950" y="2266950"/>
            <a:ext cx="3409950" cy="22669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955C71-8B62-458E-ADDB-118DB530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9530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860A04-2F96-4730-9E6F-04646C56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149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Locomotion 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56E640-C385-460D-8533-B8CC42FD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314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Gesture 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5E5330-8ECE-4906-B351-909D631B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14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ROS Visibility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2712AF-C995-4CA5-9F9D-7F68B509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314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Remote Presence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AE3223-7490-4358-9575-AEE96F51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70707"/>
                </a:solidFill>
              </a:defRPr>
            </a:pPr>
            <a:r>
              <a:rPr sz="1875" b="1">
                <a:solidFill>
                  <a:srgbClr val="070707"/>
                </a:solidFill>
              </a:rPr>
              <a:t>Premium robotics experience. Fast demo loop. Clear operator story.</a:t>
            </a:r>
          </a:p>
        </p:txBody>
      </p:sp>
    </p:spTree>
    <p:extLst>
      <p:ext uri="{BB962C8B-B14F-4D97-AF65-F5344CB8AC3E}">
        <p14:creationId xmlns:p14="http://schemas.microsoft.com/office/powerpoint/2010/main" val="8648576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B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lemetry-left-panel-soft-fill">
            <a:extLst xmlns:a="http://schemas.openxmlformats.org/drawingml/2006/main">
              <a:ext uri="{FF2B5EF4-FFF2-40B4-BE49-F238E27FC236}">
                <a16:creationId xmlns:a16="http://schemas.microsoft.com/office/drawing/2014/main" id="{CBC62815-18EF-469D-8AF6-046FC619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3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lemetry-eyebrow">
            <a:extLst xmlns:a="http://schemas.openxmlformats.org/drawingml/2006/main">
              <a:ext uri="{FF2B5EF4-FFF2-40B4-BE49-F238E27FC236}">
                <a16:creationId xmlns:a16="http://schemas.microsoft.com/office/drawing/2014/main" id="{E0530488-1AE3-44F2-92D7-4DFACCCD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2C55E"/>
                </a:solidFill>
              </a:defRPr>
            </a:pPr>
            <a:r>
              <a:rPr sz="1050" b="1">
                <a:solidFill>
                  <a:srgbClr val="22C55E"/>
                </a:solidFill>
              </a:rPr>
              <a:t>ROBOT TELEMETRY WORKFLOW</a:t>
            </a:r>
          </a:p>
        </p:txBody>
      </p:sp>
      <p:sp>
        <p:nvSpPr>
          <p:cNvPr id="3" name="telemetry-title">
            <a:extLst xmlns:a="http://schemas.openxmlformats.org/drawingml/2006/main">
              <a:ext uri="{FF2B5EF4-FFF2-40B4-BE49-F238E27FC236}">
                <a16:creationId xmlns:a16="http://schemas.microsoft.com/office/drawing/2014/main" id="{15A7CE41-3219-40BB-AE6C-BDEE049C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4457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Telemetry Recorder</a:t>
            </a:r>
          </a:p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hareketi doğruluyor</a:t>
            </a:r>
          </a:p>
        </p:txBody>
      </p:sp>
      <p:sp>
        <p:nvSpPr>
          <p:cNvPr id="4" name="telemetry-subtitle">
            <a:extLst xmlns:a="http://schemas.openxmlformats.org/drawingml/2006/main">
              <a:ext uri="{FF2B5EF4-FFF2-40B4-BE49-F238E27FC236}">
                <a16:creationId xmlns:a16="http://schemas.microsoft.com/office/drawing/2014/main" id="{E45BB33F-575A-492B-9A5A-956A57CF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81200"/>
            <a:ext cx="4343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</a:defRPr>
            </a:pPr>
            <a:r>
              <a:rPr sz="1350">
                <a:solidFill>
                  <a:srgbClr val="CBD5E1"/>
                </a:solidFill>
              </a:rPr>
              <a:t>Ekran; motor örneklerinden sequence oluşturma, simülasyonla kontrol etme ve güvenli hareketi gerçek robota kaydetme akışını tek yerde topluyor.</a:t>
            </a:r>
          </a:p>
        </p:txBody>
      </p:sp>
      <p:sp>
        <p:nvSpPr>
          <p:cNvPr id="5" name="telemetry-feature-accent-0">
            <a:extLst xmlns:a="http://schemas.openxmlformats.org/drawingml/2006/main">
              <a:ext uri="{FF2B5EF4-FFF2-40B4-BE49-F238E27FC236}">
                <a16:creationId xmlns:a16="http://schemas.microsoft.com/office/drawing/2014/main" id="{8FC66A6B-49E4-41DE-87C3-C8CF7543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1465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lemetry-feature-title-0">
            <a:extLst xmlns:a="http://schemas.openxmlformats.org/drawingml/2006/main">
              <a:ext uri="{FF2B5EF4-FFF2-40B4-BE49-F238E27FC236}">
                <a16:creationId xmlns:a16="http://schemas.microsoft.com/office/drawing/2014/main" id="{8E20D219-CA99-478A-8D9D-DC5DD87E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Sıralı hareket noktaları</a:t>
            </a:r>
          </a:p>
        </p:txBody>
      </p:sp>
      <p:sp>
        <p:nvSpPr>
          <p:cNvPr id="7" name="telemetry-feature-body-0">
            <a:extLst xmlns:a="http://schemas.openxmlformats.org/drawingml/2006/main">
              <a:ext uri="{FF2B5EF4-FFF2-40B4-BE49-F238E27FC236}">
                <a16:creationId xmlns:a16="http://schemas.microsoft.com/office/drawing/2014/main" id="{6B6E15C2-3727-42DB-BEE8-A0ABEEDB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Her point; 27 motor, zaman damgası ve replay sırası ile tutuluyor. Seçili point anında izlenebiliyor.</a:t>
            </a:r>
          </a:p>
        </p:txBody>
      </p:sp>
      <p:sp>
        <p:nvSpPr>
          <p:cNvPr id="8" name="telemetry-feature-accent-1">
            <a:extLst xmlns:a="http://schemas.openxmlformats.org/drawingml/2006/main">
              <a:ext uri="{FF2B5EF4-FFF2-40B4-BE49-F238E27FC236}">
                <a16:creationId xmlns:a16="http://schemas.microsoft.com/office/drawing/2014/main" id="{DAB6BB22-EF92-47F1-BD41-BD907E6D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lemetry-feature-title-1">
            <a:extLst xmlns:a="http://schemas.openxmlformats.org/drawingml/2006/main">
              <a:ext uri="{FF2B5EF4-FFF2-40B4-BE49-F238E27FC236}">
                <a16:creationId xmlns:a16="http://schemas.microsoft.com/office/drawing/2014/main" id="{AC806578-7BBB-4540-9C57-85E01AF6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2905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IK ve sınır doğrulaması</a:t>
            </a:r>
          </a:p>
        </p:txBody>
      </p:sp>
      <p:sp>
        <p:nvSpPr>
          <p:cNvPr id="10" name="telemetry-feature-body-1">
            <a:extLst xmlns:a="http://schemas.openxmlformats.org/drawingml/2006/main">
              <a:ext uri="{FF2B5EF4-FFF2-40B4-BE49-F238E27FC236}">
                <a16:creationId xmlns:a16="http://schemas.microsoft.com/office/drawing/2014/main" id="{371BEEDB-9C55-457B-9D96-5B8730FA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IK hatası cm seviyesinde gösteriliyor; bounds açıkken güvenli eklem limitleri korunuyor.</a:t>
            </a:r>
          </a:p>
        </p:txBody>
      </p:sp>
      <p:sp>
        <p:nvSpPr>
          <p:cNvPr id="11" name="telemetry-feature-accent-2">
            <a:extLst xmlns:a="http://schemas.openxmlformats.org/drawingml/2006/main">
              <a:ext uri="{FF2B5EF4-FFF2-40B4-BE49-F238E27FC236}">
                <a16:creationId xmlns:a16="http://schemas.microsoft.com/office/drawing/2014/main" id="{6503815F-41CD-47FB-B482-0A8376C0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lemetry-feature-title-2">
            <a:extLst xmlns:a="http://schemas.openxmlformats.org/drawingml/2006/main">
              <a:ext uri="{FF2B5EF4-FFF2-40B4-BE49-F238E27FC236}">
                <a16:creationId xmlns:a16="http://schemas.microsoft.com/office/drawing/2014/main" id="{E1869618-7C79-449C-9698-2E8A8D2D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Simülasyon ve replay karşılaştırması</a:t>
            </a:r>
          </a:p>
        </p:txBody>
      </p:sp>
      <p:sp>
        <p:nvSpPr>
          <p:cNvPr id="13" name="telemetry-feature-body-2">
            <a:extLst xmlns:a="http://schemas.openxmlformats.org/drawingml/2006/main">
              <a:ext uri="{FF2B5EF4-FFF2-40B4-BE49-F238E27FC236}">
                <a16:creationId xmlns:a16="http://schemas.microsoft.com/office/drawing/2014/main" id="{FF9752D7-79E3-4A21-A31F-FAC4A3CFF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Mavi referans, yeşil simülasyon ve kırmızı hedef hareket aynı sahnede üst üste okunuyor.</a:t>
            </a:r>
          </a:p>
        </p:txBody>
      </p:sp>
      <p:sp>
        <p:nvSpPr>
          <p:cNvPr id="14" name="telemetry-feature-accent-3">
            <a:extLst xmlns:a="http://schemas.openxmlformats.org/drawingml/2006/main">
              <a:ext uri="{FF2B5EF4-FFF2-40B4-BE49-F238E27FC236}">
                <a16:creationId xmlns:a16="http://schemas.microsoft.com/office/drawing/2014/main" id="{EB0989C0-18AE-4350-9C5B-3A02C6FB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11D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lemetry-feature-title-3">
            <a:extLst xmlns:a="http://schemas.openxmlformats.org/drawingml/2006/main">
              <a:ext uri="{FF2B5EF4-FFF2-40B4-BE49-F238E27FC236}">
                <a16:creationId xmlns:a16="http://schemas.microsoft.com/office/drawing/2014/main" id="{B9FE1970-A69E-4F01-B94D-A2E73091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Gerçek robota aktarım kapısı</a:t>
            </a:r>
          </a:p>
        </p:txBody>
      </p:sp>
      <p:sp>
        <p:nvSpPr>
          <p:cNvPr id="16" name="telemetry-feature-body-3">
            <a:extLst xmlns:a="http://schemas.openxmlformats.org/drawingml/2006/main">
              <a:ext uri="{FF2B5EF4-FFF2-40B4-BE49-F238E27FC236}">
                <a16:creationId xmlns:a16="http://schemas.microsoft.com/office/drawing/2014/main" id="{367EAC65-924B-4414-A99D-5659B5C4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8170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Add Point, Simulate Trajectory, Move Arms ve Save Real Robot Motion adımları aynı operatör akışında.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b19316ab3346ae"/>
          <a:stretch xmlns:a="http://schemas.openxmlformats.org/drawingml/2006/main"/>
        </p:blipFill>
        <p:spPr>
          <a:xfrm xmlns:a="http://schemas.openxmlformats.org/drawingml/2006/main">
            <a:off x="5623031" y="685800"/>
            <a:ext cx="6089438" cy="4419600"/>
          </a:xfrm>
          <a:prstGeom xmlns:a="http://schemas.openxmlformats.org/drawingml/2006/main" prst="rect">
            <a:avLst/>
          </a:prstGeom>
        </p:spPr>
      </p:pic>
      <p:sp>
        <p:nvSpPr>
          <p:cNvPr id="18" name="telemetry-screenshot-outline">
            <a:extLst xmlns:a="http://schemas.openxmlformats.org/drawingml/2006/main">
              <a:ext uri="{FF2B5EF4-FFF2-40B4-BE49-F238E27FC236}">
                <a16:creationId xmlns:a16="http://schemas.microsoft.com/office/drawing/2014/main" id="{082F7060-BDE9-409D-9804-92E493DC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85800"/>
            <a:ext cx="6096000" cy="441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19" name="telemetry-screenshot-caption">
            <a:extLst xmlns:a="http://schemas.openxmlformats.org/drawingml/2006/main">
              <a:ext uri="{FF2B5EF4-FFF2-40B4-BE49-F238E27FC236}">
                <a16:creationId xmlns:a16="http://schemas.microsoft.com/office/drawing/2014/main" id="{94A23EB0-00F6-4EF4-866E-D7181C9A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286375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2E8F0"/>
                </a:solidFill>
              </a:defRPr>
            </a:pPr>
            <a:r>
              <a:rPr sz="1275">
                <a:solidFill>
                  <a:srgbClr val="E2E8F0"/>
                </a:solidFill>
              </a:rPr>
              <a:t>Canlı operatör görünümü: solda sequence listesi, ortada 3D robot replay, üstte güvenlik ve kayıt aksiyonları.</a:t>
            </a:r>
          </a:p>
        </p:txBody>
      </p:sp>
      <p:sp>
        <p:nvSpPr>
          <p:cNvPr id="20" name="telemetry-bottom-safety-band">
            <a:extLst xmlns:a="http://schemas.openxmlformats.org/drawingml/2006/main">
              <a:ext uri="{FF2B5EF4-FFF2-40B4-BE49-F238E27FC236}">
                <a16:creationId xmlns:a16="http://schemas.microsoft.com/office/drawing/2014/main" id="{2D0F7468-B38C-4A85-8788-F1422690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000750"/>
            <a:ext cx="6096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21923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21" name="telemetry-bottom-safety-copy">
            <a:extLst xmlns:a="http://schemas.openxmlformats.org/drawingml/2006/main">
              <a:ext uri="{FF2B5EF4-FFF2-40B4-BE49-F238E27FC236}">
                <a16:creationId xmlns:a16="http://schemas.microsoft.com/office/drawing/2014/main" id="{C181BE3B-C677-4693-B18D-7B6FF35B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6105525"/>
            <a:ext cx="567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8FAFC"/>
                </a:solidFill>
              </a:defRPr>
            </a:pPr>
            <a:r>
              <a:rPr sz="1200" b="1">
                <a:solidFill>
                  <a:srgbClr val="F8FAFC"/>
                </a:solidFill>
              </a:rPr>
              <a:t>Amaç: hareket komutu gerçek robota gitmeden önce kayıt, görünürlük ve simülasyon doğrulaması tamamlanır.</a:t>
            </a:r>
          </a:p>
        </p:txBody>
      </p:sp>
    </p:spTree>
    <p:extLst>
      <p:ext uri="{BB962C8B-B14F-4D97-AF65-F5344CB8AC3E}">
        <p14:creationId xmlns:p14="http://schemas.microsoft.com/office/powerpoint/2010/main" val="19176627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B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xr-left-panel">
            <a:extLst xmlns:a="http://schemas.openxmlformats.org/drawingml/2006/main">
              <a:ext uri="{FF2B5EF4-FFF2-40B4-BE49-F238E27FC236}">
                <a16:creationId xmlns:a16="http://schemas.microsoft.com/office/drawing/2014/main" id="{C340BB2D-AFBE-436C-B2BC-D8A68FF3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2197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xr-eyebrow">
            <a:extLst xmlns:a="http://schemas.openxmlformats.org/drawingml/2006/main">
              <a:ext uri="{FF2B5EF4-FFF2-40B4-BE49-F238E27FC236}">
                <a16:creationId xmlns:a16="http://schemas.microsoft.com/office/drawing/2014/main" id="{D9995331-F557-41F7-9910-491418D7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38BDF8"/>
                </a:solidFill>
              </a:defRPr>
            </a:pPr>
            <a:r>
              <a:rPr sz="1050" b="1">
                <a:solidFill>
                  <a:srgbClr val="38BDF8"/>
                </a:solidFill>
              </a:rPr>
              <a:t>XR WALKING CONTROL</a:t>
            </a:r>
          </a:p>
        </p:txBody>
      </p:sp>
      <p:sp>
        <p:nvSpPr>
          <p:cNvPr id="3" name="xr-title">
            <a:extLst xmlns:a="http://schemas.openxmlformats.org/drawingml/2006/main">
              <a:ext uri="{FF2B5EF4-FFF2-40B4-BE49-F238E27FC236}">
                <a16:creationId xmlns:a16="http://schemas.microsoft.com/office/drawing/2014/main" id="{9ABBD2E8-B1C0-4DF6-9259-E5CD9438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38200"/>
            <a:ext cx="4095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Robotu yürütmenin</a:t>
            </a:r>
          </a:p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üç yolu</a:t>
            </a:r>
          </a:p>
        </p:txBody>
      </p:sp>
      <p:sp>
        <p:nvSpPr>
          <p:cNvPr id="4" name="xr-subtitle">
            <a:extLst xmlns:a="http://schemas.openxmlformats.org/drawingml/2006/main">
              <a:ext uri="{FF2B5EF4-FFF2-40B4-BE49-F238E27FC236}">
                <a16:creationId xmlns:a16="http://schemas.microsoft.com/office/drawing/2014/main" id="{F69F51C3-D3BE-4412-B29D-510531BF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057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</a:defRPr>
            </a:pPr>
            <a:r>
              <a:rPr sz="1350">
                <a:solidFill>
                  <a:srgbClr val="CBD5E1"/>
                </a:solidFill>
              </a:rPr>
              <a:t>Operatör; hassas manuel komut, baş yönüyle sezgisel sürüş veya pozisyon eşleme arasında geçiş yapabiliyor.</a:t>
            </a:r>
          </a:p>
        </p:txBody>
      </p:sp>
      <p:sp>
        <p:nvSpPr>
          <p:cNvPr id="5" name="xr-control-index-1">
            <a:extLst xmlns:a="http://schemas.openxmlformats.org/drawingml/2006/main">
              <a:ext uri="{FF2B5EF4-FFF2-40B4-BE49-F238E27FC236}">
                <a16:creationId xmlns:a16="http://schemas.microsoft.com/office/drawing/2014/main" id="{AAFDF8A3-9BC0-4402-A2E7-D39A8FAB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908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xr-control-index-text-1">
            <a:extLst xmlns:a="http://schemas.openxmlformats.org/drawingml/2006/main">
              <a:ext uri="{FF2B5EF4-FFF2-40B4-BE49-F238E27FC236}">
                <a16:creationId xmlns:a16="http://schemas.microsoft.com/office/drawing/2014/main" id="{9D352A34-8BBB-43F2-A3E4-917DB779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xr-control-title-1">
            <a:extLst xmlns:a="http://schemas.openxmlformats.org/drawingml/2006/main">
              <a:ext uri="{FF2B5EF4-FFF2-40B4-BE49-F238E27FC236}">
                <a16:creationId xmlns:a16="http://schemas.microsoft.com/office/drawing/2014/main" id="{DCAD1547-2520-4F8C-AAEE-A66EC294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7180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Floating VR Control Pad</a:t>
            </a:r>
          </a:p>
        </p:txBody>
      </p:sp>
      <p:sp>
        <p:nvSpPr>
          <p:cNvPr id="8" name="xr-control-body-1">
            <a:extLst xmlns:a="http://schemas.openxmlformats.org/drawingml/2006/main">
              <a:ext uri="{FF2B5EF4-FFF2-40B4-BE49-F238E27FC236}">
                <a16:creationId xmlns:a16="http://schemas.microsoft.com/office/drawing/2014/main" id="{DFB78ADE-ABED-47ED-9A14-96C1E42A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6707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Sanal joystick/pad ile hız ve yön verilir. Demo, dar alan ve hassas manuel sürüş için uygun.</a:t>
            </a:r>
          </a:p>
        </p:txBody>
      </p:sp>
      <p:sp>
        <p:nvSpPr>
          <p:cNvPr id="9" name="xr-control-index-2">
            <a:extLst xmlns:a="http://schemas.openxmlformats.org/drawingml/2006/main">
              <a:ext uri="{FF2B5EF4-FFF2-40B4-BE49-F238E27FC236}">
                <a16:creationId xmlns:a16="http://schemas.microsoft.com/office/drawing/2014/main" id="{6B8E75E8-B335-41BC-8392-447E4CE8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xr-control-index-text-2">
            <a:extLst xmlns:a="http://schemas.openxmlformats.org/drawingml/2006/main">
              <a:ext uri="{FF2B5EF4-FFF2-40B4-BE49-F238E27FC236}">
                <a16:creationId xmlns:a16="http://schemas.microsoft.com/office/drawing/2014/main" id="{11F13662-6559-45B7-90F7-36A566BA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243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xr-control-title-2">
            <a:extLst xmlns:a="http://schemas.openxmlformats.org/drawingml/2006/main">
              <a:ext uri="{FF2B5EF4-FFF2-40B4-BE49-F238E27FC236}">
                <a16:creationId xmlns:a16="http://schemas.microsoft.com/office/drawing/2014/main" id="{58C1152E-2CEF-4CE8-BBEC-C7B8BF61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5765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Head Rotation Control</a:t>
            </a:r>
          </a:p>
        </p:txBody>
      </p:sp>
      <p:sp>
        <p:nvSpPr>
          <p:cNvPr id="12" name="xr-control-body-2">
            <a:extLst xmlns:a="http://schemas.openxmlformats.org/drawingml/2006/main">
              <a:ext uri="{FF2B5EF4-FFF2-40B4-BE49-F238E27FC236}">
                <a16:creationId xmlns:a16="http://schemas.microsoft.com/office/drawing/2014/main" id="{01C67911-163B-4008-8DDA-8EDFA506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5292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Başın baktığı yön robotun yürüyüş niyetine çevrilir. Operatör robotu bakışla yönlendirir.</a:t>
            </a:r>
          </a:p>
        </p:txBody>
      </p:sp>
      <p:sp>
        <p:nvSpPr>
          <p:cNvPr id="13" name="xr-control-index-3">
            <a:extLst xmlns:a="http://schemas.openxmlformats.org/drawingml/2006/main">
              <a:ext uri="{FF2B5EF4-FFF2-40B4-BE49-F238E27FC236}">
                <a16:creationId xmlns:a16="http://schemas.microsoft.com/office/drawing/2014/main" id="{7B065A7C-ADAB-402C-B890-545E1E2F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62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xr-control-index-text-3">
            <a:extLst xmlns:a="http://schemas.openxmlformats.org/drawingml/2006/main">
              <a:ext uri="{FF2B5EF4-FFF2-40B4-BE49-F238E27FC236}">
                <a16:creationId xmlns:a16="http://schemas.microsoft.com/office/drawing/2014/main" id="{76E20B3E-A826-4DAC-BDF7-A6899839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101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xr-control-title-3">
            <a:extLst xmlns:a="http://schemas.openxmlformats.org/drawingml/2006/main">
              <a:ext uri="{FF2B5EF4-FFF2-40B4-BE49-F238E27FC236}">
                <a16:creationId xmlns:a16="http://schemas.microsoft.com/office/drawing/2014/main" id="{4DE25A54-105F-4813-A6B2-F9D8C571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Motion Mimic / Position Sync</a:t>
            </a:r>
          </a:p>
        </p:txBody>
      </p:sp>
      <p:sp>
        <p:nvSpPr>
          <p:cNvPr id="16" name="xr-control-body-3">
            <a:extLst xmlns:a="http://schemas.openxmlformats.org/drawingml/2006/main">
              <a:ext uri="{FF2B5EF4-FFF2-40B4-BE49-F238E27FC236}">
                <a16:creationId xmlns:a16="http://schemas.microsoft.com/office/drawing/2014/main" id="{8C344EE8-A8C2-44D9-919D-1BCE60C1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3877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Operatörün pozisyonu ve yönelimi robot hareketine eşlenir. Telepresence hissini güçlendirir.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0afe155304f28"/>
          <a:srcRect xmlns:a="http://schemas.openxmlformats.org/drawingml/2006/main" l="28" t="0" r="2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81650" y="819150"/>
            <a:ext cx="6191250" cy="3886200"/>
          </a:xfrm>
          <a:prstGeom xmlns:a="http://schemas.openxmlformats.org/drawingml/2006/main" prst="rect">
            <a:avLst/>
          </a:prstGeom>
        </p:spPr>
      </p:pic>
      <p:sp>
        <p:nvSpPr>
          <p:cNvPr id="18" name="xr-screenshot-outline">
            <a:extLst xmlns:a="http://schemas.openxmlformats.org/drawingml/2006/main">
              <a:ext uri="{FF2B5EF4-FFF2-40B4-BE49-F238E27FC236}">
                <a16:creationId xmlns:a16="http://schemas.microsoft.com/office/drawing/2014/main" id="{3C8544A3-93A0-4302-89A7-10442316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819150"/>
            <a:ext cx="6191250" cy="388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19" name="xr-caption">
            <a:extLst xmlns:a="http://schemas.openxmlformats.org/drawingml/2006/main">
              <a:ext uri="{FF2B5EF4-FFF2-40B4-BE49-F238E27FC236}">
                <a16:creationId xmlns:a16="http://schemas.microsoft.com/office/drawing/2014/main" id="{C4187414-2472-4272-9FF5-67A7DD0F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953000"/>
            <a:ext cx="613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Görüntüde Vision Pro arayüzü robot sahnesinin üzerine bindirilmiş: üç kontrol modu aynı seçim ekranında karşılaştırılıyor.</a:t>
            </a:r>
          </a:p>
        </p:txBody>
      </p:sp>
      <p:sp>
        <p:nvSpPr>
          <p:cNvPr id="20" name="xr-bottom-band">
            <a:extLst xmlns:a="http://schemas.openxmlformats.org/drawingml/2006/main">
              <a:ext uri="{FF2B5EF4-FFF2-40B4-BE49-F238E27FC236}">
                <a16:creationId xmlns:a16="http://schemas.microsoft.com/office/drawing/2014/main" id="{57876312-5A30-4144-95D1-274E33D4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886450"/>
            <a:ext cx="6191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21923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21" name="xr-bottom-copy">
            <a:extLst xmlns:a="http://schemas.openxmlformats.org/drawingml/2006/main">
              <a:ext uri="{FF2B5EF4-FFF2-40B4-BE49-F238E27FC236}">
                <a16:creationId xmlns:a16="http://schemas.microsoft.com/office/drawing/2014/main" id="{16098D38-1D12-4BC2-AC87-69FD5C76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010275"/>
            <a:ext cx="575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8FAFC"/>
                </a:solidFill>
              </a:defRPr>
            </a:pPr>
            <a:r>
              <a:rPr sz="1275" b="1">
                <a:solidFill>
                  <a:srgbClr val="F8FAFC"/>
                </a:solidFill>
              </a:rPr>
              <a:t>Yürütme katmanı tek bir kontrol biçimine kilitlenmez; görev, ortam ve operatör deneyimine göre mod seçilir.</a:t>
            </a:r>
          </a:p>
        </p:txBody>
      </p:sp>
    </p:spTree>
    <p:extLst>
      <p:ext uri="{BB962C8B-B14F-4D97-AF65-F5344CB8AC3E}">
        <p14:creationId xmlns:p14="http://schemas.microsoft.com/office/powerpoint/2010/main" val="1000082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B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mmary-eyebrow">
            <a:extLst xmlns:a="http://schemas.openxmlformats.org/drawingml/2006/main">
              <a:ext uri="{FF2B5EF4-FFF2-40B4-BE49-F238E27FC236}">
                <a16:creationId xmlns:a16="http://schemas.microsoft.com/office/drawing/2014/main" id="{886992DE-3408-416A-B8FF-1AC80747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2C55E"/>
                </a:solidFill>
              </a:defRPr>
            </a:pPr>
            <a:r>
              <a:rPr sz="1050" b="1">
                <a:solidFill>
                  <a:srgbClr val="DC2626"/>
                </a:solidFill>
              </a:rPr>
              <a:t>FEATURE SCOPE</a:t>
            </a:r>
          </a:p>
        </p:txBody>
      </p:sp>
      <p:sp>
        <p:nvSpPr>
          <p:cNvPr id="2" name="summary-title">
            <a:extLst xmlns:a="http://schemas.openxmlformats.org/drawingml/2006/main">
              <a:ext uri="{FF2B5EF4-FFF2-40B4-BE49-F238E27FC236}">
                <a16:creationId xmlns:a16="http://schemas.microsoft.com/office/drawing/2014/main" id="{A8CB66A5-8391-4BDA-A9AF-7C397E07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Camera Stream, Teleoperation ve kayıt akışları hariç özellikler</a:t>
            </a:r>
          </a:p>
        </p:txBody>
      </p:sp>
      <p:sp>
        <p:nvSpPr>
          <p:cNvPr id="3" name="summary-subtitle">
            <a:extLst xmlns:a="http://schemas.openxmlformats.org/drawingml/2006/main">
              <a:ext uri="{FF2B5EF4-FFF2-40B4-BE49-F238E27FC236}">
                <a16:creationId xmlns:a16="http://schemas.microsoft.com/office/drawing/2014/main" id="{085C0BBD-E7D4-4EE5-876C-E31DEEB4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CBD5E1"/>
                </a:solidFill>
              </a:defRPr>
            </a:pPr>
            <a:r>
              <a:rPr sz="1425">
                <a:solidFill>
                  <a:srgbClr val="475569"/>
                </a:solidFill>
              </a:rPr>
              <a:t>Robot deneyimini kamera yayını, teleoperation ve kayıt/sequence akışlarına dayanmadan anlatan ürün katmanları.</a:t>
            </a:r>
          </a:p>
        </p:txBody>
      </p:sp>
      <p:sp>
        <p:nvSpPr>
          <p:cNvPr id="4" name="summary-accent-1">
            <a:extLst xmlns:a="http://schemas.openxmlformats.org/drawingml/2006/main">
              <a:ext uri="{FF2B5EF4-FFF2-40B4-BE49-F238E27FC236}">
                <a16:creationId xmlns:a16="http://schemas.microsoft.com/office/drawing/2014/main" id="{153ABE25-DE31-492F-9B5C-1F16266B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ummary-column-title-1">
            <a:extLst xmlns:a="http://schemas.openxmlformats.org/drawingml/2006/main">
              <a:ext uri="{FF2B5EF4-FFF2-40B4-BE49-F238E27FC236}">
                <a16:creationId xmlns:a16="http://schemas.microsoft.com/office/drawing/2014/main" id="{23C6B5C8-67D6-4712-AEE4-2B746EFF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Cockpit ve AI</a:t>
            </a:r>
          </a:p>
        </p:txBody>
      </p:sp>
      <p:sp>
        <p:nvSpPr>
          <p:cNvPr id="6" name="summary-dot-1-0">
            <a:extLst xmlns:a="http://schemas.openxmlformats.org/drawingml/2006/main">
              <a:ext uri="{FF2B5EF4-FFF2-40B4-BE49-F238E27FC236}">
                <a16:creationId xmlns:a16="http://schemas.microsoft.com/office/drawing/2014/main" id="{E782920F-02C3-4BE3-A23F-A49B4820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ummary-item-1-0">
            <a:extLst xmlns:a="http://schemas.openxmlformats.org/drawingml/2006/main">
              <a:ext uri="{FF2B5EF4-FFF2-40B4-BE49-F238E27FC236}">
                <a16:creationId xmlns:a16="http://schemas.microsoft.com/office/drawing/2014/main" id="{82752ACF-2A1E-408B-94EB-E53764A0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AI Chatbot ile doğal dil komut ve cevap akışı</a:t>
            </a:r>
          </a:p>
        </p:txBody>
      </p:sp>
      <p:sp>
        <p:nvSpPr>
          <p:cNvPr id="8" name="summary-dot-1-1">
            <a:extLst xmlns:a="http://schemas.openxmlformats.org/drawingml/2006/main">
              <a:ext uri="{FF2B5EF4-FFF2-40B4-BE49-F238E27FC236}">
                <a16:creationId xmlns:a16="http://schemas.microsoft.com/office/drawing/2014/main" id="{C9E43975-E384-4751-86AB-7B1BEA92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ummary-item-1-1">
            <a:extLst xmlns:a="http://schemas.openxmlformats.org/drawingml/2006/main">
              <a:ext uri="{FF2B5EF4-FFF2-40B4-BE49-F238E27FC236}">
                <a16:creationId xmlns:a16="http://schemas.microsoft.com/office/drawing/2014/main" id="{71A3217D-8F84-4FA9-9A63-F6D21C84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Bilgi akışı / RAG ile robot bağlamını toplama</a:t>
            </a:r>
          </a:p>
        </p:txBody>
      </p:sp>
      <p:sp>
        <p:nvSpPr>
          <p:cNvPr id="10" name="summary-dot-1-2">
            <a:extLst xmlns:a="http://schemas.openxmlformats.org/drawingml/2006/main">
              <a:ext uri="{FF2B5EF4-FFF2-40B4-BE49-F238E27FC236}">
                <a16:creationId xmlns:a16="http://schemas.microsoft.com/office/drawing/2014/main" id="{BF43D49A-E3E9-4F68-94F4-2B393140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ummary-item-1-2">
            <a:extLst xmlns:a="http://schemas.openxmlformats.org/drawingml/2006/main">
              <a:ext uri="{FF2B5EF4-FFF2-40B4-BE49-F238E27FC236}">
                <a16:creationId xmlns:a16="http://schemas.microsoft.com/office/drawing/2014/main" id="{71EB9F1E-E26F-430E-8ED0-0C507D06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Robot Twin ile dijital sahne ve durum hissi</a:t>
            </a:r>
          </a:p>
        </p:txBody>
      </p:sp>
      <p:sp>
        <p:nvSpPr>
          <p:cNvPr id="12" name="summary-dot-1-3">
            <a:extLst xmlns:a="http://schemas.openxmlformats.org/drawingml/2006/main">
              <a:ext uri="{FF2B5EF4-FFF2-40B4-BE49-F238E27FC236}">
                <a16:creationId xmlns:a16="http://schemas.microsoft.com/office/drawing/2014/main" id="{D0110764-0F71-46B5-9DF9-3EDEA65E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ummary-item-1-3">
            <a:extLst xmlns:a="http://schemas.openxmlformats.org/drawingml/2006/main">
              <a:ext uri="{FF2B5EF4-FFF2-40B4-BE49-F238E27FC236}">
                <a16:creationId xmlns:a16="http://schemas.microsoft.com/office/drawing/2014/main" id="{BAA415C0-742B-4962-8DE9-97C16EB5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Tek cockpit içinde operatör karar ekranı</a:t>
            </a:r>
          </a:p>
        </p:txBody>
      </p:sp>
      <p:sp>
        <p:nvSpPr>
          <p:cNvPr id="14" name="summary-accent-2">
            <a:extLst xmlns:a="http://schemas.openxmlformats.org/drawingml/2006/main">
              <a:ext uri="{FF2B5EF4-FFF2-40B4-BE49-F238E27FC236}">
                <a16:creationId xmlns:a16="http://schemas.microsoft.com/office/drawing/2014/main" id="{3BB516E3-7CCC-43C9-A41C-8D0154D1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ummary-column-title-2">
            <a:extLst xmlns:a="http://schemas.openxmlformats.org/drawingml/2006/main">
              <a:ext uri="{FF2B5EF4-FFF2-40B4-BE49-F238E27FC236}">
                <a16:creationId xmlns:a16="http://schemas.microsoft.com/office/drawing/2014/main" id="{09F93FB2-4CD9-4A11-AA0F-4875ACAE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Robot Twin</a:t>
            </a:r>
          </a:p>
        </p:txBody>
      </p:sp>
      <p:sp>
        <p:nvSpPr>
          <p:cNvPr id="16" name="summary-dot-2-0">
            <a:extLst xmlns:a="http://schemas.openxmlformats.org/drawingml/2006/main">
              <a:ext uri="{FF2B5EF4-FFF2-40B4-BE49-F238E27FC236}">
                <a16:creationId xmlns:a16="http://schemas.microsoft.com/office/drawing/2014/main" id="{275B9D02-32DD-4752-AD2E-3608401D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ummary-item-2-0">
            <a:extLst xmlns:a="http://schemas.openxmlformats.org/drawingml/2006/main">
              <a:ext uri="{FF2B5EF4-FFF2-40B4-BE49-F238E27FC236}">
                <a16:creationId xmlns:a16="http://schemas.microsoft.com/office/drawing/2014/main" id="{06400A28-3AF6-4DB5-BE61-079515292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Dijital robot görünümüyle sahneyi okuma</a:t>
            </a:r>
          </a:p>
        </p:txBody>
      </p:sp>
      <p:sp>
        <p:nvSpPr>
          <p:cNvPr id="18" name="summary-dot-2-1">
            <a:extLst xmlns:a="http://schemas.openxmlformats.org/drawingml/2006/main">
              <a:ext uri="{FF2B5EF4-FFF2-40B4-BE49-F238E27FC236}">
                <a16:creationId xmlns:a16="http://schemas.microsoft.com/office/drawing/2014/main" id="{BD3D500E-9961-45BB-BA34-8FF112FD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ummary-item-2-1">
            <a:extLst xmlns:a="http://schemas.openxmlformats.org/drawingml/2006/main">
              <a:ext uri="{FF2B5EF4-FFF2-40B4-BE49-F238E27FC236}">
                <a16:creationId xmlns:a16="http://schemas.microsoft.com/office/drawing/2014/main" id="{039C0838-D042-4CA0-AF8A-220B0B40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Robot durumunu görsel olarak takip etme</a:t>
            </a:r>
          </a:p>
        </p:txBody>
      </p:sp>
      <p:sp>
        <p:nvSpPr>
          <p:cNvPr id="20" name="summary-dot-2-2">
            <a:extLst xmlns:a="http://schemas.openxmlformats.org/drawingml/2006/main">
              <a:ext uri="{FF2B5EF4-FFF2-40B4-BE49-F238E27FC236}">
                <a16:creationId xmlns:a16="http://schemas.microsoft.com/office/drawing/2014/main" id="{8A5E66CF-4E3F-4C37-9286-98BE9CD2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ummary-item-2-2">
            <a:extLst xmlns:a="http://schemas.openxmlformats.org/drawingml/2006/main">
              <a:ext uri="{FF2B5EF4-FFF2-40B4-BE49-F238E27FC236}">
                <a16:creationId xmlns:a16="http://schemas.microsoft.com/office/drawing/2014/main" id="{A2392BB0-778B-48CF-82CC-AA99B9E8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Operatöre tek bakışta sahne farkındalığı verme</a:t>
            </a:r>
          </a:p>
        </p:txBody>
      </p:sp>
      <p:sp>
        <p:nvSpPr>
          <p:cNvPr id="22" name="summary-dot-2-3">
            <a:extLst xmlns:a="http://schemas.openxmlformats.org/drawingml/2006/main">
              <a:ext uri="{FF2B5EF4-FFF2-40B4-BE49-F238E27FC236}">
                <a16:creationId xmlns:a16="http://schemas.microsoft.com/office/drawing/2014/main" id="{3BAC5C97-2047-4C1E-A9A9-85596491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ummary-item-2-3">
            <a:extLst xmlns:a="http://schemas.openxmlformats.org/drawingml/2006/main">
              <a:ext uri="{FF2B5EF4-FFF2-40B4-BE49-F238E27FC236}">
                <a16:creationId xmlns:a16="http://schemas.microsoft.com/office/drawing/2014/main" id="{08E9C1E0-9197-484B-B25A-43905A97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Gerçek robot ile dijital bağlamı aynı hikayede toplama</a:t>
            </a:r>
          </a:p>
        </p:txBody>
      </p:sp>
      <p:sp>
        <p:nvSpPr>
          <p:cNvPr id="24" name="summary-accent-3">
            <a:extLst xmlns:a="http://schemas.openxmlformats.org/drawingml/2006/main">
              <a:ext uri="{FF2B5EF4-FFF2-40B4-BE49-F238E27FC236}">
                <a16:creationId xmlns:a16="http://schemas.microsoft.com/office/drawing/2014/main" id="{DB4E2D7A-CD0B-4BE6-9D46-C5C24FEC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ummary-column-title-3">
            <a:extLst xmlns:a="http://schemas.openxmlformats.org/drawingml/2006/main">
              <a:ext uri="{FF2B5EF4-FFF2-40B4-BE49-F238E27FC236}">
                <a16:creationId xmlns:a16="http://schemas.microsoft.com/office/drawing/2014/main" id="{9542CB7D-BD85-4453-9A8F-BDF5C68A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Live Dashboard</a:t>
            </a:r>
          </a:p>
        </p:txBody>
      </p:sp>
      <p:sp>
        <p:nvSpPr>
          <p:cNvPr id="26" name="summary-dot-3-0">
            <a:extLst xmlns:a="http://schemas.openxmlformats.org/drawingml/2006/main">
              <a:ext uri="{FF2B5EF4-FFF2-40B4-BE49-F238E27FC236}">
                <a16:creationId xmlns:a16="http://schemas.microsoft.com/office/drawing/2014/main" id="{57462B64-BB98-4779-B659-4B499F2F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ummary-item-3-0">
            <a:extLst xmlns:a="http://schemas.openxmlformats.org/drawingml/2006/main">
              <a:ext uri="{FF2B5EF4-FFF2-40B4-BE49-F238E27FC236}">
                <a16:creationId xmlns:a16="http://schemas.microsoft.com/office/drawing/2014/main" id="{085F348E-0A53-4897-8173-B558CBC1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Anlık robot durumunu okunabilir hale getirme</a:t>
            </a:r>
          </a:p>
        </p:txBody>
      </p:sp>
      <p:sp>
        <p:nvSpPr>
          <p:cNvPr id="28" name="summary-dot-3-1">
            <a:extLst xmlns:a="http://schemas.openxmlformats.org/drawingml/2006/main">
              <a:ext uri="{FF2B5EF4-FFF2-40B4-BE49-F238E27FC236}">
                <a16:creationId xmlns:a16="http://schemas.microsoft.com/office/drawing/2014/main" id="{798A8D34-1722-480C-941A-F7BF126B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ummary-item-3-1">
            <a:extLst xmlns:a="http://schemas.openxmlformats.org/drawingml/2006/main">
              <a:ext uri="{FF2B5EF4-FFF2-40B4-BE49-F238E27FC236}">
                <a16:creationId xmlns:a16="http://schemas.microsoft.com/office/drawing/2014/main" id="{A30FF992-1702-4567-9D98-7D9D21ED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Sistem sağlığı ve bağlantı bilgisini takip etme</a:t>
            </a:r>
          </a:p>
        </p:txBody>
      </p:sp>
      <p:sp>
        <p:nvSpPr>
          <p:cNvPr id="30" name="summary-dot-3-2">
            <a:extLst xmlns:a="http://schemas.openxmlformats.org/drawingml/2006/main">
              <a:ext uri="{FF2B5EF4-FFF2-40B4-BE49-F238E27FC236}">
                <a16:creationId xmlns:a16="http://schemas.microsoft.com/office/drawing/2014/main" id="{CC2DDA57-9192-4ED7-BF8A-78A9F479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summary-item-3-2">
            <a:extLst xmlns:a="http://schemas.openxmlformats.org/drawingml/2006/main">
              <a:ext uri="{FF2B5EF4-FFF2-40B4-BE49-F238E27FC236}">
                <a16:creationId xmlns:a16="http://schemas.microsoft.com/office/drawing/2014/main" id="{44C264DE-0344-4E9E-B0B5-3BA72D05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Operasyon ekranında hızlı kontrol hissi verme</a:t>
            </a:r>
          </a:p>
        </p:txBody>
      </p:sp>
      <p:sp>
        <p:nvSpPr>
          <p:cNvPr id="32" name="summary-dot-3-3">
            <a:extLst xmlns:a="http://schemas.openxmlformats.org/drawingml/2006/main">
              <a:ext uri="{FF2B5EF4-FFF2-40B4-BE49-F238E27FC236}">
                <a16:creationId xmlns:a16="http://schemas.microsoft.com/office/drawing/2014/main" id="{77F26244-1A37-4C2C-8191-EF0A43F38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summary-item-3-3">
            <a:extLst xmlns:a="http://schemas.openxmlformats.org/drawingml/2006/main">
              <a:ext uri="{FF2B5EF4-FFF2-40B4-BE49-F238E27FC236}">
                <a16:creationId xmlns:a16="http://schemas.microsoft.com/office/drawing/2014/main" id="{4A34C9D7-E7A7-4B69-9B46-432A309D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Log, durum ve hata bilgisini tek deneyime bağlama</a:t>
            </a:r>
          </a:p>
        </p:txBody>
      </p:sp>
      <p:sp>
        <p:nvSpPr>
          <p:cNvPr id="34" name="summary-accent-4">
            <a:extLst xmlns:a="http://schemas.openxmlformats.org/drawingml/2006/main">
              <a:ext uri="{FF2B5EF4-FFF2-40B4-BE49-F238E27FC236}">
                <a16:creationId xmlns:a16="http://schemas.microsoft.com/office/drawing/2014/main" id="{2B3B6C7C-D2B3-4E47-8004-DF727B22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summary-column-title-4">
            <a:extLst xmlns:a="http://schemas.openxmlformats.org/drawingml/2006/main">
              <a:ext uri="{FF2B5EF4-FFF2-40B4-BE49-F238E27FC236}">
                <a16:creationId xmlns:a16="http://schemas.microsoft.com/office/drawing/2014/main" id="{DF069BEB-1216-48D1-A984-4C1A8245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Entegrasyon ve Demo Hazırlığı</a:t>
            </a:r>
          </a:p>
        </p:txBody>
      </p:sp>
      <p:sp>
        <p:nvSpPr>
          <p:cNvPr id="36" name="summary-dot-4-0">
            <a:extLst xmlns:a="http://schemas.openxmlformats.org/drawingml/2006/main">
              <a:ext uri="{FF2B5EF4-FFF2-40B4-BE49-F238E27FC236}">
                <a16:creationId xmlns:a16="http://schemas.microsoft.com/office/drawing/2014/main" id="{46BF30B7-66F6-45ED-B6EF-6A64DD8D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summary-item-4-0">
            <a:extLst xmlns:a="http://schemas.openxmlformats.org/drawingml/2006/main">
              <a:ext uri="{FF2B5EF4-FFF2-40B4-BE49-F238E27FC236}">
                <a16:creationId xmlns:a16="http://schemas.microsoft.com/office/drawing/2014/main" id="{CCC25C07-1392-47D4-A6DC-1C519829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ROS Visibility ile altyapı görünürlüğü</a:t>
            </a:r>
          </a:p>
        </p:txBody>
      </p:sp>
      <p:sp>
        <p:nvSpPr>
          <p:cNvPr id="38" name="summary-dot-4-1">
            <a:extLst xmlns:a="http://schemas.openxmlformats.org/drawingml/2006/main">
              <a:ext uri="{FF2B5EF4-FFF2-40B4-BE49-F238E27FC236}">
                <a16:creationId xmlns:a16="http://schemas.microsoft.com/office/drawing/2014/main" id="{59DCD151-D03D-49E5-BAF1-54119ECD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summary-item-4-1">
            <a:extLst xmlns:a="http://schemas.openxmlformats.org/drawingml/2006/main">
              <a:ext uri="{FF2B5EF4-FFF2-40B4-BE49-F238E27FC236}">
                <a16:creationId xmlns:a16="http://schemas.microsoft.com/office/drawing/2014/main" id="{1C934687-CCD9-413D-BBFA-1CC91430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Modüler kontrol katmanları</a:t>
            </a:r>
          </a:p>
        </p:txBody>
      </p:sp>
      <p:sp>
        <p:nvSpPr>
          <p:cNvPr id="40" name="summary-dot-4-2">
            <a:extLst xmlns:a="http://schemas.openxmlformats.org/drawingml/2006/main">
              <a:ext uri="{FF2B5EF4-FFF2-40B4-BE49-F238E27FC236}">
                <a16:creationId xmlns:a16="http://schemas.microsoft.com/office/drawing/2014/main" id="{876A55B3-C675-4707-B33C-7575D67B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summary-item-4-2">
            <a:extLst xmlns:a="http://schemas.openxmlformats.org/drawingml/2006/main">
              <a:ext uri="{FF2B5EF4-FFF2-40B4-BE49-F238E27FC236}">
                <a16:creationId xmlns:a16="http://schemas.microsoft.com/office/drawing/2014/main" id="{7BD7F432-15B1-49E2-9039-A400CC69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Pilot/demo için tek ekran deneyimi</a:t>
            </a:r>
          </a:p>
        </p:txBody>
      </p:sp>
      <p:sp>
        <p:nvSpPr>
          <p:cNvPr id="42" name="summary-dot-4-3">
            <a:extLst xmlns:a="http://schemas.openxmlformats.org/drawingml/2006/main">
              <a:ext uri="{FF2B5EF4-FFF2-40B4-BE49-F238E27FC236}">
                <a16:creationId xmlns:a16="http://schemas.microsoft.com/office/drawing/2014/main" id="{5E75EF89-CD79-4D07-9D0D-AA682D58D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summary-item-4-3">
            <a:extLst xmlns:a="http://schemas.openxmlformats.org/drawingml/2006/main">
              <a:ext uri="{FF2B5EF4-FFF2-40B4-BE49-F238E27FC236}">
                <a16:creationId xmlns:a16="http://schemas.microsoft.com/office/drawing/2014/main" id="{28B2257B-7CF8-47A6-898F-B0327ABB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Premium control layer ile ürün hissi</a:t>
            </a:r>
          </a:p>
        </p:txBody>
      </p:sp>
      <p:sp>
        <p:nvSpPr>
          <p:cNvPr id="44" name="summary-footer-line">
            <a:extLst xmlns:a="http://schemas.openxmlformats.org/drawingml/2006/main">
              <a:ext uri="{FF2B5EF4-FFF2-40B4-BE49-F238E27FC236}">
                <a16:creationId xmlns:a16="http://schemas.microsoft.com/office/drawing/2014/main" id="{A61945C7-053D-4731-AC9B-9DC5B7AD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2460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summary-footer">
            <a:extLst xmlns:a="http://schemas.openxmlformats.org/drawingml/2006/main">
              <a:ext uri="{FF2B5EF4-FFF2-40B4-BE49-F238E27FC236}">
                <a16:creationId xmlns:a16="http://schemas.microsoft.com/office/drawing/2014/main" id="{A1392C9E-70A5-4E90-B45F-5740DA03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4A3B8"/>
                </a:solidFill>
              </a:defRPr>
            </a:pPr>
            <a:r>
              <a:rPr sz="1200">
                <a:solidFill>
                  <a:srgbClr val="64748B"/>
                </a:solidFill>
              </a:rPr>
              <a:t>Kapsam dışı: Camera Stream, Teleoperation / Remote Presence, kayıt-sequence akışları, IK/simülasyon ve XR walking control modes.</a:t>
            </a:r>
          </a:p>
        </p:txBody>
      </p:sp>
      <p:sp>
        <p:nvSpPr>
          <p:cNvPr id="46" name="readable-summary-cover">
            <a:extLst xmlns:a="http://schemas.openxmlformats.org/drawingml/2006/main">
              <a:ext uri="{FF2B5EF4-FFF2-40B4-BE49-F238E27FC236}">
                <a16:creationId xmlns:a16="http://schemas.microsoft.com/office/drawing/2014/main" id="{45F86A79-AB78-4FD5-A9DC-88863D3B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B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readable-summary-eyebrow">
            <a:extLst xmlns:a="http://schemas.openxmlformats.org/drawingml/2006/main">
              <a:ext uri="{FF2B5EF4-FFF2-40B4-BE49-F238E27FC236}">
                <a16:creationId xmlns:a16="http://schemas.microsoft.com/office/drawing/2014/main" id="{90FCF8CF-CEF4-40FF-BB96-A93F03DF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22C55E"/>
                </a:solidFill>
              </a:defRPr>
            </a:pPr>
            <a:r>
              <a:rPr sz="1125" b="1">
                <a:solidFill>
                  <a:srgbClr val="22C55E"/>
                </a:solidFill>
              </a:rPr>
              <a:t>FEATURE SCOPE</a:t>
            </a:r>
          </a:p>
        </p:txBody>
      </p:sp>
      <p:sp>
        <p:nvSpPr>
          <p:cNvPr id="48" name="readable-summary-heading">
            <a:extLst xmlns:a="http://schemas.openxmlformats.org/drawingml/2006/main">
              <a:ext uri="{FF2B5EF4-FFF2-40B4-BE49-F238E27FC236}">
                <a16:creationId xmlns:a16="http://schemas.microsoft.com/office/drawing/2014/main" id="{718F1B2F-52CA-479A-A2F1-F80BDCB3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Kalan ürün özellikleri</a:t>
            </a:r>
          </a:p>
        </p:txBody>
      </p:sp>
      <p:sp>
        <p:nvSpPr>
          <p:cNvPr id="49" name="readable-summary-subtitle">
            <a:extLst xmlns:a="http://schemas.openxmlformats.org/drawingml/2006/main">
              <a:ext uri="{FF2B5EF4-FFF2-40B4-BE49-F238E27FC236}">
                <a16:creationId xmlns:a16="http://schemas.microsoft.com/office/drawing/2014/main" id="{426C8D26-C2FA-4200-9A10-DC70116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38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CBD5E1"/>
                </a:solidFill>
              </a:defRPr>
            </a:pPr>
            <a:r>
              <a:rPr sz="1650">
                <a:solidFill>
                  <a:srgbClr val="CBD5E1"/>
                </a:solidFill>
              </a:rPr>
              <a:t>Camera Stream, Teleoperation ve kayıt akışları hariç.</a:t>
            </a:r>
          </a:p>
        </p:txBody>
      </p:sp>
      <p:sp>
        <p:nvSpPr>
          <p:cNvPr id="50" name="readable-summary-block-1">
            <a:extLst xmlns:a="http://schemas.openxmlformats.org/drawingml/2006/main">
              <a:ext uri="{FF2B5EF4-FFF2-40B4-BE49-F238E27FC236}">
                <a16:creationId xmlns:a16="http://schemas.microsoft.com/office/drawing/2014/main" id="{85326EB4-3520-4398-90D6-053CC204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5257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11822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51" name="readable-summary-accent-1">
            <a:extLst xmlns:a="http://schemas.openxmlformats.org/drawingml/2006/main">
              <a:ext uri="{FF2B5EF4-FFF2-40B4-BE49-F238E27FC236}">
                <a16:creationId xmlns:a16="http://schemas.microsoft.com/office/drawing/2014/main" id="{D5538E78-F572-4D3B-BC02-A4D929A1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readable-summary-title-1">
            <a:extLst xmlns:a="http://schemas.openxmlformats.org/drawingml/2006/main">
              <a:ext uri="{FF2B5EF4-FFF2-40B4-BE49-F238E27FC236}">
                <a16:creationId xmlns:a16="http://schemas.microsoft.com/office/drawing/2014/main" id="{05E9F8B8-1BDC-4008-B024-5710CA25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Cockpit ve AI</a:t>
            </a:r>
          </a:p>
        </p:txBody>
      </p:sp>
      <p:sp>
        <p:nvSpPr>
          <p:cNvPr id="53" name="readable-summary-dot-1-0">
            <a:extLst xmlns:a="http://schemas.openxmlformats.org/drawingml/2006/main">
              <a:ext uri="{FF2B5EF4-FFF2-40B4-BE49-F238E27FC236}">
                <a16:creationId xmlns:a16="http://schemas.microsoft.com/office/drawing/2014/main" id="{CD822141-F1A4-46E7-840F-C0CB44AA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90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readable-summary-item-1-0">
            <a:extLst xmlns:a="http://schemas.openxmlformats.org/drawingml/2006/main">
              <a:ext uri="{FF2B5EF4-FFF2-40B4-BE49-F238E27FC236}">
                <a16:creationId xmlns:a16="http://schemas.microsoft.com/office/drawing/2014/main" id="{FB2135DA-962B-4EF6-9A92-C96A6026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AI Chatbot</a:t>
            </a:r>
          </a:p>
        </p:txBody>
      </p:sp>
      <p:sp>
        <p:nvSpPr>
          <p:cNvPr id="55" name="readable-summary-dot-1-1">
            <a:extLst xmlns:a="http://schemas.openxmlformats.org/drawingml/2006/main">
              <a:ext uri="{FF2B5EF4-FFF2-40B4-BE49-F238E27FC236}">
                <a16:creationId xmlns:a16="http://schemas.microsoft.com/office/drawing/2014/main" id="{84D62CF7-42FD-40E0-9818-0181E245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readable-summary-item-1-1">
            <a:extLst xmlns:a="http://schemas.openxmlformats.org/drawingml/2006/main">
              <a:ext uri="{FF2B5EF4-FFF2-40B4-BE49-F238E27FC236}">
                <a16:creationId xmlns:a16="http://schemas.microsoft.com/office/drawing/2014/main" id="{9ABF595C-4CF9-4ED2-BF52-554AFB51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Bilgi Akışı / RAG</a:t>
            </a:r>
          </a:p>
        </p:txBody>
      </p:sp>
      <p:sp>
        <p:nvSpPr>
          <p:cNvPr id="57" name="readable-summary-dot-1-2">
            <a:extLst xmlns:a="http://schemas.openxmlformats.org/drawingml/2006/main">
              <a:ext uri="{FF2B5EF4-FFF2-40B4-BE49-F238E27FC236}">
                <a16:creationId xmlns:a16="http://schemas.microsoft.com/office/drawing/2014/main" id="{6FACE029-B6E2-4F1A-94AA-97501F7F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676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readable-summary-item-1-2">
            <a:extLst xmlns:a="http://schemas.openxmlformats.org/drawingml/2006/main">
              <a:ext uri="{FF2B5EF4-FFF2-40B4-BE49-F238E27FC236}">
                <a16:creationId xmlns:a16="http://schemas.microsoft.com/office/drawing/2014/main" id="{2FF4E693-89A7-4FC6-8701-23E43841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00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Tek cockpit deneyimi</a:t>
            </a:r>
          </a:p>
        </p:txBody>
      </p:sp>
      <p:sp>
        <p:nvSpPr>
          <p:cNvPr id="59" name="readable-summary-block-2">
            <a:extLst xmlns:a="http://schemas.openxmlformats.org/drawingml/2006/main">
              <a:ext uri="{FF2B5EF4-FFF2-40B4-BE49-F238E27FC236}">
                <a16:creationId xmlns:a16="http://schemas.microsoft.com/office/drawing/2014/main" id="{3913600C-4679-4BD8-939A-02EE8BEE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76450"/>
            <a:ext cx="5257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11822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60" name="readable-summary-accent-2">
            <a:extLst xmlns:a="http://schemas.openxmlformats.org/drawingml/2006/main">
              <a:ext uri="{FF2B5EF4-FFF2-40B4-BE49-F238E27FC236}">
                <a16:creationId xmlns:a16="http://schemas.microsoft.com/office/drawing/2014/main" id="{BE0D91B6-A502-4AC1-9D9E-B84A7007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8600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readable-summary-title-2">
            <a:extLst xmlns:a="http://schemas.openxmlformats.org/drawingml/2006/main">
              <a:ext uri="{FF2B5EF4-FFF2-40B4-BE49-F238E27FC236}">
                <a16:creationId xmlns:a16="http://schemas.microsoft.com/office/drawing/2014/main" id="{55F6837D-2064-412D-B071-DF64870FB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765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Robot Twin</a:t>
            </a:r>
          </a:p>
        </p:txBody>
      </p:sp>
      <p:sp>
        <p:nvSpPr>
          <p:cNvPr id="62" name="readable-summary-dot-2-0">
            <a:extLst xmlns:a="http://schemas.openxmlformats.org/drawingml/2006/main">
              <a:ext uri="{FF2B5EF4-FFF2-40B4-BE49-F238E27FC236}">
                <a16:creationId xmlns:a16="http://schemas.microsoft.com/office/drawing/2014/main" id="{91C75C38-F8BD-4045-9B36-BA836BEC7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990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readable-summary-item-2-0">
            <a:extLst xmlns:a="http://schemas.openxmlformats.org/drawingml/2006/main">
              <a:ext uri="{FF2B5EF4-FFF2-40B4-BE49-F238E27FC236}">
                <a16:creationId xmlns:a16="http://schemas.microsoft.com/office/drawing/2014/main" id="{08D6FE2B-6EEE-4297-B074-7A2646BE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146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Dijital robot görünümü</a:t>
            </a:r>
          </a:p>
        </p:txBody>
      </p:sp>
      <p:sp>
        <p:nvSpPr>
          <p:cNvPr id="64" name="readable-summary-dot-2-1">
            <a:extLst xmlns:a="http://schemas.openxmlformats.org/drawingml/2006/main">
              <a:ext uri="{FF2B5EF4-FFF2-40B4-BE49-F238E27FC236}">
                <a16:creationId xmlns:a16="http://schemas.microsoft.com/office/drawing/2014/main" id="{B0016F89-894C-4BFC-8776-F31E7F683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readable-summary-item-2-1">
            <a:extLst xmlns:a="http://schemas.openxmlformats.org/drawingml/2006/main">
              <a:ext uri="{FF2B5EF4-FFF2-40B4-BE49-F238E27FC236}">
                <a16:creationId xmlns:a16="http://schemas.microsoft.com/office/drawing/2014/main" id="{07F6F198-693B-4B4C-A5E3-50E67E32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575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Sahne farkındalığı</a:t>
            </a:r>
          </a:p>
        </p:txBody>
      </p:sp>
      <p:sp>
        <p:nvSpPr>
          <p:cNvPr id="66" name="readable-summary-dot-2-2">
            <a:extLst xmlns:a="http://schemas.openxmlformats.org/drawingml/2006/main">
              <a:ext uri="{FF2B5EF4-FFF2-40B4-BE49-F238E27FC236}">
                <a16:creationId xmlns:a16="http://schemas.microsoft.com/office/drawing/2014/main" id="{4661C53A-89B0-414B-8E40-A0BBB599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676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readable-summary-item-2-2">
            <a:extLst xmlns:a="http://schemas.openxmlformats.org/drawingml/2006/main">
              <a:ext uri="{FF2B5EF4-FFF2-40B4-BE49-F238E27FC236}">
                <a16:creationId xmlns:a16="http://schemas.microsoft.com/office/drawing/2014/main" id="{BC1B2816-A240-4543-8883-273132E0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00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Robot bağlamını toplama</a:t>
            </a:r>
          </a:p>
        </p:txBody>
      </p:sp>
      <p:sp>
        <p:nvSpPr>
          <p:cNvPr id="68" name="readable-summary-block-3">
            <a:extLst xmlns:a="http://schemas.openxmlformats.org/drawingml/2006/main">
              <a:ext uri="{FF2B5EF4-FFF2-40B4-BE49-F238E27FC236}">
                <a16:creationId xmlns:a16="http://schemas.microsoft.com/office/drawing/2014/main" id="{5BA7B1CD-337D-4234-998F-25014C2A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5257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11822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69" name="readable-summary-accent-3">
            <a:extLst xmlns:a="http://schemas.openxmlformats.org/drawingml/2006/main">
              <a:ext uri="{FF2B5EF4-FFF2-40B4-BE49-F238E27FC236}">
                <a16:creationId xmlns:a16="http://schemas.microsoft.com/office/drawing/2014/main" id="{4E3992C2-C1D8-4340-9318-EF3AF94B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5295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readable-summary-title-3">
            <a:extLst xmlns:a="http://schemas.openxmlformats.org/drawingml/2006/main">
              <a:ext uri="{FF2B5EF4-FFF2-40B4-BE49-F238E27FC236}">
                <a16:creationId xmlns:a16="http://schemas.microsoft.com/office/drawing/2014/main" id="{029F0BA4-E249-4E4D-93E1-573D109C8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Live Dashboard</a:t>
            </a:r>
          </a:p>
        </p:txBody>
      </p:sp>
      <p:sp>
        <p:nvSpPr>
          <p:cNvPr id="71" name="readable-summary-dot-3-0">
            <a:extLst xmlns:a="http://schemas.openxmlformats.org/drawingml/2006/main">
              <a:ext uri="{FF2B5EF4-FFF2-40B4-BE49-F238E27FC236}">
                <a16:creationId xmlns:a16="http://schemas.microsoft.com/office/drawing/2014/main" id="{B7AAF0FF-39F1-4AA7-A0A3-2BFB3182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57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readable-summary-item-3-0">
            <a:extLst xmlns:a="http://schemas.openxmlformats.org/drawingml/2006/main">
              <a:ext uri="{FF2B5EF4-FFF2-40B4-BE49-F238E27FC236}">
                <a16:creationId xmlns:a16="http://schemas.microsoft.com/office/drawing/2014/main" id="{7276D2F7-458F-4734-9D17-2E600EF9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816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Anlık robot durumu</a:t>
            </a:r>
          </a:p>
        </p:txBody>
      </p:sp>
      <p:sp>
        <p:nvSpPr>
          <p:cNvPr id="73" name="readable-summary-dot-3-1">
            <a:extLst xmlns:a="http://schemas.openxmlformats.org/drawingml/2006/main">
              <a:ext uri="{FF2B5EF4-FFF2-40B4-BE49-F238E27FC236}">
                <a16:creationId xmlns:a16="http://schemas.microsoft.com/office/drawing/2014/main" id="{628A70B5-D994-47FE-BC87-2229446C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600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readable-summary-item-3-1">
            <a:extLst xmlns:a="http://schemas.openxmlformats.org/drawingml/2006/main">
              <a:ext uri="{FF2B5EF4-FFF2-40B4-BE49-F238E27FC236}">
                <a16:creationId xmlns:a16="http://schemas.microsoft.com/office/drawing/2014/main" id="{9D4C8F58-C4B5-4041-ABE1-01771661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245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Sistem sağlığı</a:t>
            </a:r>
          </a:p>
        </p:txBody>
      </p:sp>
      <p:sp>
        <p:nvSpPr>
          <p:cNvPr id="75" name="readable-summary-dot-3-2">
            <a:extLst xmlns:a="http://schemas.openxmlformats.org/drawingml/2006/main">
              <a:ext uri="{FF2B5EF4-FFF2-40B4-BE49-F238E27FC236}">
                <a16:creationId xmlns:a16="http://schemas.microsoft.com/office/drawing/2014/main" id="{00AEC786-2AD8-436A-B801-B1AC93FE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943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readable-summary-item-3-2">
            <a:extLst xmlns:a="http://schemas.openxmlformats.org/drawingml/2006/main">
              <a:ext uri="{FF2B5EF4-FFF2-40B4-BE49-F238E27FC236}">
                <a16:creationId xmlns:a16="http://schemas.microsoft.com/office/drawing/2014/main" id="{0FA5379D-120A-4F6C-B0F0-E2AA7D3F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8674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Log ve hata görünürlüğü</a:t>
            </a:r>
          </a:p>
        </p:txBody>
      </p:sp>
      <p:sp>
        <p:nvSpPr>
          <p:cNvPr id="77" name="readable-summary-block-4">
            <a:extLst xmlns:a="http://schemas.openxmlformats.org/drawingml/2006/main">
              <a:ext uri="{FF2B5EF4-FFF2-40B4-BE49-F238E27FC236}">
                <a16:creationId xmlns:a16="http://schemas.microsoft.com/office/drawing/2014/main" id="{9E243C49-4A95-48C8-B31F-5A994625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43400"/>
            <a:ext cx="5257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11822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78" name="readable-summary-accent-4">
            <a:extLst xmlns:a="http://schemas.openxmlformats.org/drawingml/2006/main">
              <a:ext uri="{FF2B5EF4-FFF2-40B4-BE49-F238E27FC236}">
                <a16:creationId xmlns:a16="http://schemas.microsoft.com/office/drawing/2014/main" id="{326D67E0-9447-44C5-9BF7-F4AB52F2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5295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readable-summary-title-4">
            <a:extLst xmlns:a="http://schemas.openxmlformats.org/drawingml/2006/main">
              <a:ext uri="{FF2B5EF4-FFF2-40B4-BE49-F238E27FC236}">
                <a16:creationId xmlns:a16="http://schemas.microsoft.com/office/drawing/2014/main" id="{697E2787-EF34-4FDC-979A-8743A064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434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Entegrasyon ve Demo</a:t>
            </a:r>
          </a:p>
        </p:txBody>
      </p:sp>
      <p:sp>
        <p:nvSpPr>
          <p:cNvPr id="80" name="readable-summary-dot-4-0">
            <a:extLst xmlns:a="http://schemas.openxmlformats.org/drawingml/2006/main">
              <a:ext uri="{FF2B5EF4-FFF2-40B4-BE49-F238E27FC236}">
                <a16:creationId xmlns:a16="http://schemas.microsoft.com/office/drawing/2014/main" id="{9A9DAE35-FC9F-4A66-A1A9-E134ECE6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257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readable-summary-item-4-0">
            <a:extLst xmlns:a="http://schemas.openxmlformats.org/drawingml/2006/main">
              <a:ext uri="{FF2B5EF4-FFF2-40B4-BE49-F238E27FC236}">
                <a16:creationId xmlns:a16="http://schemas.microsoft.com/office/drawing/2014/main" id="{D0F50B50-D820-430C-8061-A81A9E93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1816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ROS Visibility</a:t>
            </a:r>
          </a:p>
        </p:txBody>
      </p:sp>
      <p:sp>
        <p:nvSpPr>
          <p:cNvPr id="82" name="readable-summary-dot-4-1">
            <a:extLst xmlns:a="http://schemas.openxmlformats.org/drawingml/2006/main">
              <a:ext uri="{FF2B5EF4-FFF2-40B4-BE49-F238E27FC236}">
                <a16:creationId xmlns:a16="http://schemas.microsoft.com/office/drawing/2014/main" id="{03AFDA01-5111-4175-94DD-F9370156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600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readable-summary-item-4-1">
            <a:extLst xmlns:a="http://schemas.openxmlformats.org/drawingml/2006/main">
              <a:ext uri="{FF2B5EF4-FFF2-40B4-BE49-F238E27FC236}">
                <a16:creationId xmlns:a16="http://schemas.microsoft.com/office/drawing/2014/main" id="{9F905AA8-EC8B-45ED-948C-56A9E532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5245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Modüler kontrol katmanları</a:t>
            </a:r>
          </a:p>
        </p:txBody>
      </p:sp>
      <p:sp>
        <p:nvSpPr>
          <p:cNvPr id="84" name="readable-summary-dot-4-2">
            <a:extLst xmlns:a="http://schemas.openxmlformats.org/drawingml/2006/main">
              <a:ext uri="{FF2B5EF4-FFF2-40B4-BE49-F238E27FC236}">
                <a16:creationId xmlns:a16="http://schemas.microsoft.com/office/drawing/2014/main" id="{7E5B3F53-38E4-4A3E-8DF5-CDFB0A20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943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readable-summary-item-4-2">
            <a:extLst xmlns:a="http://schemas.openxmlformats.org/drawingml/2006/main">
              <a:ext uri="{FF2B5EF4-FFF2-40B4-BE49-F238E27FC236}">
                <a16:creationId xmlns:a16="http://schemas.microsoft.com/office/drawing/2014/main" id="{73EA5967-96F2-4F20-AA41-1DBFAFE1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8674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Demo-ready ürün hissi</a:t>
            </a:r>
          </a:p>
        </p:txBody>
      </p:sp>
      <p:sp>
        <p:nvSpPr>
          <p:cNvPr id="86" name="readable-summary-cover">
            <a:extLst xmlns:a="http://schemas.openxmlformats.org/drawingml/2006/main">
              <a:ext uri="{FF2B5EF4-FFF2-40B4-BE49-F238E27FC236}">
                <a16:creationId xmlns:a16="http://schemas.microsoft.com/office/drawing/2014/main" id="{9D076F0F-9466-4C01-A788-BF81B470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B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readable-summary-eyebrow">
            <a:extLst xmlns:a="http://schemas.openxmlformats.org/drawingml/2006/main">
              <a:ext uri="{FF2B5EF4-FFF2-40B4-BE49-F238E27FC236}">
                <a16:creationId xmlns:a16="http://schemas.microsoft.com/office/drawing/2014/main" id="{587186D5-6727-44ED-B2D1-B623633A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2C55E"/>
                </a:solidFill>
              </a:defRPr>
            </a:pPr>
            <a:r>
              <a:rPr sz="1125" b="1">
                <a:solidFill>
                  <a:srgbClr val="22C55E"/>
                </a:solidFill>
              </a:rPr>
              <a:t>FEATURE SCOPE</a:t>
            </a:r>
          </a:p>
        </p:txBody>
      </p:sp>
      <p:sp>
        <p:nvSpPr>
          <p:cNvPr id="88" name="readable-summary-heading">
            <a:extLst xmlns:a="http://schemas.openxmlformats.org/drawingml/2006/main">
              <a:ext uri="{FF2B5EF4-FFF2-40B4-BE49-F238E27FC236}">
                <a16:creationId xmlns:a16="http://schemas.microsoft.com/office/drawing/2014/main" id="{8BBC60FD-7BC2-46CC-B317-FE09FFD2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Kalan ürün özellikleri</a:t>
            </a:r>
          </a:p>
        </p:txBody>
      </p:sp>
      <p:sp>
        <p:nvSpPr>
          <p:cNvPr id="89" name="readable-summary-subtitle">
            <a:extLst xmlns:a="http://schemas.openxmlformats.org/drawingml/2006/main">
              <a:ext uri="{FF2B5EF4-FFF2-40B4-BE49-F238E27FC236}">
                <a16:creationId xmlns:a16="http://schemas.microsoft.com/office/drawing/2014/main" id="{E159289E-2146-4AD8-A16C-DF222548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38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CBD5E1"/>
                </a:solidFill>
              </a:defRPr>
            </a:pPr>
            <a:r>
              <a:rPr sz="1650">
                <a:solidFill>
                  <a:srgbClr val="CBD5E1"/>
                </a:solidFill>
              </a:rPr>
              <a:t>Camera Stream, Teleoperation ve kayıt akışları hariç.</a:t>
            </a:r>
          </a:p>
        </p:txBody>
      </p:sp>
      <p:sp>
        <p:nvSpPr>
          <p:cNvPr id="90" name="readable-summary-block-1">
            <a:extLst xmlns:a="http://schemas.openxmlformats.org/drawingml/2006/main">
              <a:ext uri="{FF2B5EF4-FFF2-40B4-BE49-F238E27FC236}">
                <a16:creationId xmlns:a16="http://schemas.microsoft.com/office/drawing/2014/main" id="{65C4E347-E9A9-4E01-9F14-F274BBE2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525780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11822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91" name="readable-summary-accent-1">
            <a:extLst xmlns:a="http://schemas.openxmlformats.org/drawingml/2006/main">
              <a:ext uri="{FF2B5EF4-FFF2-40B4-BE49-F238E27FC236}">
                <a16:creationId xmlns:a16="http://schemas.microsoft.com/office/drawing/2014/main" id="{69C17588-4776-40E7-A54A-51744EF7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980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readable-summary-title-1">
            <a:extLst xmlns:a="http://schemas.openxmlformats.org/drawingml/2006/main">
              <a:ext uri="{FF2B5EF4-FFF2-40B4-BE49-F238E27FC236}">
                <a16:creationId xmlns:a16="http://schemas.microsoft.com/office/drawing/2014/main" id="{B4C1161F-CAA3-49D4-8D7F-7354CF853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Cockpit ve AI</a:t>
            </a:r>
          </a:p>
        </p:txBody>
      </p:sp>
      <p:sp>
        <p:nvSpPr>
          <p:cNvPr id="93" name="readable-summary-dot-1-0">
            <a:extLst xmlns:a="http://schemas.openxmlformats.org/drawingml/2006/main">
              <a:ext uri="{FF2B5EF4-FFF2-40B4-BE49-F238E27FC236}">
                <a16:creationId xmlns:a16="http://schemas.microsoft.com/office/drawing/2014/main" id="{1A815D3A-E7AF-41C6-9C74-37A5BD40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14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readable-summary-item-1-0">
            <a:extLst xmlns:a="http://schemas.openxmlformats.org/drawingml/2006/main">
              <a:ext uri="{FF2B5EF4-FFF2-40B4-BE49-F238E27FC236}">
                <a16:creationId xmlns:a16="http://schemas.microsoft.com/office/drawing/2014/main" id="{2FF85769-1605-4525-9439-05D58882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38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AI Chatbot</a:t>
            </a:r>
          </a:p>
        </p:txBody>
      </p:sp>
      <p:sp>
        <p:nvSpPr>
          <p:cNvPr id="95" name="readable-summary-dot-1-1">
            <a:extLst xmlns:a="http://schemas.openxmlformats.org/drawingml/2006/main">
              <a:ext uri="{FF2B5EF4-FFF2-40B4-BE49-F238E27FC236}">
                <a16:creationId xmlns:a16="http://schemas.microsoft.com/office/drawing/2014/main" id="{8BF0B9F3-BA19-4859-950D-343F68839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readable-summary-item-1-1">
            <a:extLst xmlns:a="http://schemas.openxmlformats.org/drawingml/2006/main">
              <a:ext uri="{FF2B5EF4-FFF2-40B4-BE49-F238E27FC236}">
                <a16:creationId xmlns:a16="http://schemas.microsoft.com/office/drawing/2014/main" id="{F4B62EA2-35D8-45A0-80E4-29EB42E3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Bilgi Akışı / RAG</a:t>
            </a:r>
          </a:p>
        </p:txBody>
      </p:sp>
      <p:sp>
        <p:nvSpPr>
          <p:cNvPr id="97" name="readable-summary-dot-1-2">
            <a:extLst xmlns:a="http://schemas.openxmlformats.org/drawingml/2006/main">
              <a:ext uri="{FF2B5EF4-FFF2-40B4-BE49-F238E27FC236}">
                <a16:creationId xmlns:a16="http://schemas.microsoft.com/office/drawing/2014/main" id="{366F0646-0247-40AF-9052-2B2D1587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600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readable-summary-item-1-2">
            <a:extLst xmlns:a="http://schemas.openxmlformats.org/drawingml/2006/main">
              <a:ext uri="{FF2B5EF4-FFF2-40B4-BE49-F238E27FC236}">
                <a16:creationId xmlns:a16="http://schemas.microsoft.com/office/drawing/2014/main" id="{3ACF285E-A434-43B7-AB64-323E7029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242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Tek cockpit deneyimi</a:t>
            </a:r>
          </a:p>
        </p:txBody>
      </p:sp>
      <p:sp>
        <p:nvSpPr>
          <p:cNvPr id="99" name="readable-summary-block-2">
            <a:extLst xmlns:a="http://schemas.openxmlformats.org/drawingml/2006/main">
              <a:ext uri="{FF2B5EF4-FFF2-40B4-BE49-F238E27FC236}">
                <a16:creationId xmlns:a16="http://schemas.microsoft.com/office/drawing/2014/main" id="{A72982D6-01D5-4348-BD52-D1479866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00250"/>
            <a:ext cx="525780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11822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00" name="readable-summary-accent-2">
            <a:extLst xmlns:a="http://schemas.openxmlformats.org/drawingml/2006/main">
              <a:ext uri="{FF2B5EF4-FFF2-40B4-BE49-F238E27FC236}">
                <a16:creationId xmlns:a16="http://schemas.microsoft.com/office/drawing/2014/main" id="{B604548B-D030-470B-9C9D-FCA9C9627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0980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readable-summary-title-2">
            <a:extLst xmlns:a="http://schemas.openxmlformats.org/drawingml/2006/main">
              <a:ext uri="{FF2B5EF4-FFF2-40B4-BE49-F238E27FC236}">
                <a16:creationId xmlns:a16="http://schemas.microsoft.com/office/drawing/2014/main" id="{ADA075A7-F073-4CA5-A3E4-B923F026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003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Robot Twin</a:t>
            </a:r>
          </a:p>
        </p:txBody>
      </p:sp>
      <p:sp>
        <p:nvSpPr>
          <p:cNvPr id="102" name="readable-summary-dot-2-0">
            <a:extLst xmlns:a="http://schemas.openxmlformats.org/drawingml/2006/main">
              <a:ext uri="{FF2B5EF4-FFF2-40B4-BE49-F238E27FC236}">
                <a16:creationId xmlns:a16="http://schemas.microsoft.com/office/drawing/2014/main" id="{479326B9-4ACB-4FE5-AB3F-9FA902BDE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914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readable-summary-item-2-0">
            <a:extLst xmlns:a="http://schemas.openxmlformats.org/drawingml/2006/main">
              <a:ext uri="{FF2B5EF4-FFF2-40B4-BE49-F238E27FC236}">
                <a16:creationId xmlns:a16="http://schemas.microsoft.com/office/drawing/2014/main" id="{B0CDCB50-8121-4F30-B3B4-0D2F69AA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38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Dijital robot görünümü</a:t>
            </a:r>
          </a:p>
        </p:txBody>
      </p:sp>
      <p:sp>
        <p:nvSpPr>
          <p:cNvPr id="104" name="readable-summary-dot-2-1">
            <a:extLst xmlns:a="http://schemas.openxmlformats.org/drawingml/2006/main">
              <a:ext uri="{FF2B5EF4-FFF2-40B4-BE49-F238E27FC236}">
                <a16:creationId xmlns:a16="http://schemas.microsoft.com/office/drawing/2014/main" id="{B5F37ACF-3DE3-4DEC-8F5E-1A954CB2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readable-summary-item-2-1">
            <a:extLst xmlns:a="http://schemas.openxmlformats.org/drawingml/2006/main">
              <a:ext uri="{FF2B5EF4-FFF2-40B4-BE49-F238E27FC236}">
                <a16:creationId xmlns:a16="http://schemas.microsoft.com/office/drawing/2014/main" id="{F6957BEF-F626-46BA-8B17-12AA1092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813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Sahne farkındalığı</a:t>
            </a:r>
          </a:p>
        </p:txBody>
      </p:sp>
      <p:sp>
        <p:nvSpPr>
          <p:cNvPr id="106" name="readable-summary-dot-2-2">
            <a:extLst xmlns:a="http://schemas.openxmlformats.org/drawingml/2006/main">
              <a:ext uri="{FF2B5EF4-FFF2-40B4-BE49-F238E27FC236}">
                <a16:creationId xmlns:a16="http://schemas.microsoft.com/office/drawing/2014/main" id="{22BBAE40-858A-477B-9755-741284E5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600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readable-summary-item-2-2">
            <a:extLst xmlns:a="http://schemas.openxmlformats.org/drawingml/2006/main">
              <a:ext uri="{FF2B5EF4-FFF2-40B4-BE49-F238E27FC236}">
                <a16:creationId xmlns:a16="http://schemas.microsoft.com/office/drawing/2014/main" id="{9B580936-C72F-4C02-B48C-5752DABC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5242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Robot bağlamını toplama</a:t>
            </a:r>
          </a:p>
        </p:txBody>
      </p:sp>
      <p:sp>
        <p:nvSpPr>
          <p:cNvPr id="108" name="readable-summary-block-3">
            <a:extLst xmlns:a="http://schemas.openxmlformats.org/drawingml/2006/main">
              <a:ext uri="{FF2B5EF4-FFF2-40B4-BE49-F238E27FC236}">
                <a16:creationId xmlns:a16="http://schemas.microsoft.com/office/drawing/2014/main" id="{F1457C8C-7A78-427B-A6FF-104B8DFD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25780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11822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09" name="readable-summary-accent-3">
            <a:extLst xmlns:a="http://schemas.openxmlformats.org/drawingml/2006/main">
              <a:ext uri="{FF2B5EF4-FFF2-40B4-BE49-F238E27FC236}">
                <a16:creationId xmlns:a16="http://schemas.microsoft.com/office/drawing/2014/main" id="{DD41653D-C97F-4019-A03E-CA4C86B74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3390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readable-summary-title-3">
            <a:extLst xmlns:a="http://schemas.openxmlformats.org/drawingml/2006/main">
              <a:ext uri="{FF2B5EF4-FFF2-40B4-BE49-F238E27FC236}">
                <a16:creationId xmlns:a16="http://schemas.microsoft.com/office/drawing/2014/main" id="{6D91BE63-9127-42F7-94D1-B9D794DA6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244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Live Dashboard</a:t>
            </a:r>
          </a:p>
        </p:txBody>
      </p:sp>
      <p:sp>
        <p:nvSpPr>
          <p:cNvPr id="111" name="readable-summary-dot-3-0">
            <a:extLst xmlns:a="http://schemas.openxmlformats.org/drawingml/2006/main">
              <a:ext uri="{FF2B5EF4-FFF2-40B4-BE49-F238E27FC236}">
                <a16:creationId xmlns:a16="http://schemas.microsoft.com/office/drawing/2014/main" id="{41E7FDE1-D5B6-4A92-B8CF-14375788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38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readable-summary-item-3-0">
            <a:extLst xmlns:a="http://schemas.openxmlformats.org/drawingml/2006/main">
              <a:ext uri="{FF2B5EF4-FFF2-40B4-BE49-F238E27FC236}">
                <a16:creationId xmlns:a16="http://schemas.microsoft.com/office/drawing/2014/main" id="{674DE82D-8199-47F3-9219-F633101E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625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Anlık robot durumu</a:t>
            </a:r>
          </a:p>
        </p:txBody>
      </p:sp>
      <p:sp>
        <p:nvSpPr>
          <p:cNvPr id="113" name="readable-summary-dot-3-1">
            <a:extLst xmlns:a="http://schemas.openxmlformats.org/drawingml/2006/main">
              <a:ext uri="{FF2B5EF4-FFF2-40B4-BE49-F238E27FC236}">
                <a16:creationId xmlns:a16="http://schemas.microsoft.com/office/drawing/2014/main" id="{23A360EB-516A-4CEC-B13F-467CA6F4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581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readable-summary-item-3-1">
            <a:extLst xmlns:a="http://schemas.openxmlformats.org/drawingml/2006/main">
              <a:ext uri="{FF2B5EF4-FFF2-40B4-BE49-F238E27FC236}">
                <a16:creationId xmlns:a16="http://schemas.microsoft.com/office/drawing/2014/main" id="{ED1210F5-2B2C-47D7-8A9B-13799118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05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Sistem sağlığı</a:t>
            </a:r>
          </a:p>
        </p:txBody>
      </p:sp>
      <p:sp>
        <p:nvSpPr>
          <p:cNvPr id="115" name="readable-summary-dot-3-2">
            <a:extLst xmlns:a="http://schemas.openxmlformats.org/drawingml/2006/main">
              <a:ext uri="{FF2B5EF4-FFF2-40B4-BE49-F238E27FC236}">
                <a16:creationId xmlns:a16="http://schemas.microsoft.com/office/drawing/2014/main" id="{E575D08E-4289-47C6-8A80-E6DE98BE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924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readable-summary-item-3-2">
            <a:extLst xmlns:a="http://schemas.openxmlformats.org/drawingml/2006/main">
              <a:ext uri="{FF2B5EF4-FFF2-40B4-BE49-F238E27FC236}">
                <a16:creationId xmlns:a16="http://schemas.microsoft.com/office/drawing/2014/main" id="{243EB5D9-DAB5-4643-BB09-22D1E3474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8483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Log ve hata görünürlüğü</a:t>
            </a:r>
          </a:p>
        </p:txBody>
      </p:sp>
      <p:sp>
        <p:nvSpPr>
          <p:cNvPr id="117" name="readable-summary-block-4">
            <a:extLst xmlns:a="http://schemas.openxmlformats.org/drawingml/2006/main">
              <a:ext uri="{FF2B5EF4-FFF2-40B4-BE49-F238E27FC236}">
                <a16:creationId xmlns:a16="http://schemas.microsoft.com/office/drawing/2014/main" id="{01D787B7-DEF1-4E3F-80DE-2D2E6408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24350"/>
            <a:ext cx="525780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11822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18" name="readable-summary-accent-4">
            <a:extLst xmlns:a="http://schemas.openxmlformats.org/drawingml/2006/main">
              <a:ext uri="{FF2B5EF4-FFF2-40B4-BE49-F238E27FC236}">
                <a16:creationId xmlns:a16="http://schemas.microsoft.com/office/drawing/2014/main" id="{09C73115-0D63-4D76-8E2E-567F5044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3390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readable-summary-title-4">
            <a:extLst xmlns:a="http://schemas.openxmlformats.org/drawingml/2006/main">
              <a:ext uri="{FF2B5EF4-FFF2-40B4-BE49-F238E27FC236}">
                <a16:creationId xmlns:a16="http://schemas.microsoft.com/office/drawing/2014/main" id="{350929BB-3D7F-49E4-AC34-B16EA1B2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244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Entegrasyon ve Demo</a:t>
            </a:r>
          </a:p>
        </p:txBody>
      </p:sp>
      <p:sp>
        <p:nvSpPr>
          <p:cNvPr id="120" name="readable-summary-dot-4-0">
            <a:extLst xmlns:a="http://schemas.openxmlformats.org/drawingml/2006/main">
              <a:ext uri="{FF2B5EF4-FFF2-40B4-BE49-F238E27FC236}">
                <a16:creationId xmlns:a16="http://schemas.microsoft.com/office/drawing/2014/main" id="{FEDD0B10-C167-46EA-89A1-7B933C90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238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readable-summary-item-4-0">
            <a:extLst xmlns:a="http://schemas.openxmlformats.org/drawingml/2006/main">
              <a:ext uri="{FF2B5EF4-FFF2-40B4-BE49-F238E27FC236}">
                <a16:creationId xmlns:a16="http://schemas.microsoft.com/office/drawing/2014/main" id="{9AB95D9E-3A2F-48A4-81F9-1CA4468C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1625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ROS Visibility</a:t>
            </a:r>
          </a:p>
        </p:txBody>
      </p:sp>
      <p:sp>
        <p:nvSpPr>
          <p:cNvPr id="122" name="readable-summary-dot-4-1">
            <a:extLst xmlns:a="http://schemas.openxmlformats.org/drawingml/2006/main">
              <a:ext uri="{FF2B5EF4-FFF2-40B4-BE49-F238E27FC236}">
                <a16:creationId xmlns:a16="http://schemas.microsoft.com/office/drawing/2014/main" id="{6026E1BB-4D03-4FB7-94C0-48017EA3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581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readable-summary-item-4-1">
            <a:extLst xmlns:a="http://schemas.openxmlformats.org/drawingml/2006/main">
              <a:ext uri="{FF2B5EF4-FFF2-40B4-BE49-F238E27FC236}">
                <a16:creationId xmlns:a16="http://schemas.microsoft.com/office/drawing/2014/main" id="{FD7BF46F-14FB-4B60-8574-6FE0B64D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505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Modüler kontrol katmanları</a:t>
            </a:r>
          </a:p>
        </p:txBody>
      </p:sp>
      <p:sp>
        <p:nvSpPr>
          <p:cNvPr id="124" name="readable-summary-dot-4-2">
            <a:extLst xmlns:a="http://schemas.openxmlformats.org/drawingml/2006/main">
              <a:ext uri="{FF2B5EF4-FFF2-40B4-BE49-F238E27FC236}">
                <a16:creationId xmlns:a16="http://schemas.microsoft.com/office/drawing/2014/main" id="{35DCAEBE-A549-47CC-AB1B-88B94CB5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924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readable-summary-item-4-2">
            <a:extLst xmlns:a="http://schemas.openxmlformats.org/drawingml/2006/main">
              <a:ext uri="{FF2B5EF4-FFF2-40B4-BE49-F238E27FC236}">
                <a16:creationId xmlns:a16="http://schemas.microsoft.com/office/drawing/2014/main" id="{E40C75FF-89FC-48FE-9B24-1E53EA36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8483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BE4EF"/>
                </a:solidFill>
              </a:defRPr>
            </a:pPr>
            <a:r>
              <a:rPr sz="1500">
                <a:solidFill>
                  <a:srgbClr val="DBE4EF"/>
                </a:solidFill>
              </a:rPr>
              <a:t>Demo-ready ürün hissi</a:t>
            </a:r>
          </a:p>
        </p:txBody>
      </p:sp>
    </p:spTree>
    <p:extLst>
      <p:ext uri="{BB962C8B-B14F-4D97-AF65-F5344CB8AC3E}">
        <p14:creationId xmlns:p14="http://schemas.microsoft.com/office/powerpoint/2010/main" val="13691507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2026-07-07T09:06:19.9170000Z</dcterms:created>
  <dcterms:modified xsi:type="dcterms:W3CDTF">2026-07-07T09:06:19.9170000Z</dcterms:modified>
</coreProperties>
</file>